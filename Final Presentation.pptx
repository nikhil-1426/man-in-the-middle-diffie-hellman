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4" r:id="rId1"/>
  </p:sldMasterIdLst>
  <p:notesMasterIdLst>
    <p:notesMasterId r:id="rId10"/>
  </p:notesMasterIdLst>
  <p:sldIdLst>
    <p:sldId id="256" r:id="rId2"/>
    <p:sldId id="257" r:id="rId3"/>
    <p:sldId id="258" r:id="rId4"/>
    <p:sldId id="356" r:id="rId5"/>
    <p:sldId id="349" r:id="rId6"/>
    <p:sldId id="350" r:id="rId7"/>
    <p:sldId id="355" r:id="rId8"/>
    <p:sldId id="265" r:id="rId9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1"/>
    </p:embeddedFont>
    <p:embeddedFont>
      <p:font typeface="Lato" panose="020F0502020204030203" pitchFamily="34" charset="0"/>
      <p:regular r:id="rId12"/>
      <p:bold r:id="rId13"/>
      <p:italic r:id="rId14"/>
      <p:boldItalic r:id="rId15"/>
    </p:embeddedFont>
    <p:embeddedFont>
      <p:font typeface="Montserrat" panose="00000500000000000000" pitchFamily="2" charset="0"/>
      <p:regular r:id="rId16"/>
      <p:bold r:id="rId17"/>
      <p:italic r:id="rId18"/>
      <p:boldItalic r:id="rId19"/>
    </p:embeddedFont>
    <p:embeddedFont>
      <p:font typeface="Vidaloka" panose="020B0604020202020204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25D15C9-F2E0-4EDD-8A7B-61C40F314727}">
  <a:tblStyle styleId="{925D15C9-F2E0-4EDD-8A7B-61C40F3147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8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18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86" name="Google Shape;48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cc7554a049_0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  <p:sp>
        <p:nvSpPr>
          <p:cNvPr id="492" name="Google Shape;492;gcc7554a049_0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cf7a3c503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  <p:sp>
        <p:nvSpPr>
          <p:cNvPr id="498" name="Google Shape;498;gcf7a3c503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>
          <a:extLst>
            <a:ext uri="{FF2B5EF4-FFF2-40B4-BE49-F238E27FC236}">
              <a16:creationId xmlns:a16="http://schemas.microsoft.com/office/drawing/2014/main" id="{348420C2-EEC0-CC6C-7629-8B2C224E4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cf7a3c503a_0_0:notes">
            <a:extLst>
              <a:ext uri="{FF2B5EF4-FFF2-40B4-BE49-F238E27FC236}">
                <a16:creationId xmlns:a16="http://schemas.microsoft.com/office/drawing/2014/main" id="{636ED2F6-0DDA-063F-0015-57A7885C96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  <p:sp>
        <p:nvSpPr>
          <p:cNvPr id="498" name="Google Shape;498;gcf7a3c503a_0_0:notes">
            <a:extLst>
              <a:ext uri="{FF2B5EF4-FFF2-40B4-BE49-F238E27FC236}">
                <a16:creationId xmlns:a16="http://schemas.microsoft.com/office/drawing/2014/main" id="{6D140CF3-76DE-CC92-9EDC-531F5F8179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40824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>
          <a:extLst>
            <a:ext uri="{FF2B5EF4-FFF2-40B4-BE49-F238E27FC236}">
              <a16:creationId xmlns:a16="http://schemas.microsoft.com/office/drawing/2014/main" id="{BB96A4E0-1BD3-5781-ABA5-61120D31E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cc7554a049_0_358:notes">
            <a:extLst>
              <a:ext uri="{FF2B5EF4-FFF2-40B4-BE49-F238E27FC236}">
                <a16:creationId xmlns:a16="http://schemas.microsoft.com/office/drawing/2014/main" id="{53404C1A-B002-4990-50CB-4499C164E0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  <p:sp>
        <p:nvSpPr>
          <p:cNvPr id="492" name="Google Shape;492;gcc7554a049_0_358:notes">
            <a:extLst>
              <a:ext uri="{FF2B5EF4-FFF2-40B4-BE49-F238E27FC236}">
                <a16:creationId xmlns:a16="http://schemas.microsoft.com/office/drawing/2014/main" id="{62E6CD20-3A5B-4960-5DCB-050482BB55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05055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>
          <a:extLst>
            <a:ext uri="{FF2B5EF4-FFF2-40B4-BE49-F238E27FC236}">
              <a16:creationId xmlns:a16="http://schemas.microsoft.com/office/drawing/2014/main" id="{5FC56399-02B1-C418-A7C8-E2950BB14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cc7554a049_0_358:notes">
            <a:extLst>
              <a:ext uri="{FF2B5EF4-FFF2-40B4-BE49-F238E27FC236}">
                <a16:creationId xmlns:a16="http://schemas.microsoft.com/office/drawing/2014/main" id="{CB3D513D-6BF9-74DE-DFCE-A2EFD2A7AA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  <p:sp>
        <p:nvSpPr>
          <p:cNvPr id="492" name="Google Shape;492;gcc7554a049_0_358:notes">
            <a:extLst>
              <a:ext uri="{FF2B5EF4-FFF2-40B4-BE49-F238E27FC236}">
                <a16:creationId xmlns:a16="http://schemas.microsoft.com/office/drawing/2014/main" id="{19083C30-DC3F-57EC-5636-7D72C0FB18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83664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>
          <a:extLst>
            <a:ext uri="{FF2B5EF4-FFF2-40B4-BE49-F238E27FC236}">
              <a16:creationId xmlns:a16="http://schemas.microsoft.com/office/drawing/2014/main" id="{A4302478-2C5E-64FE-6716-1ECADC09F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cc7554a049_0_358:notes">
            <a:extLst>
              <a:ext uri="{FF2B5EF4-FFF2-40B4-BE49-F238E27FC236}">
                <a16:creationId xmlns:a16="http://schemas.microsoft.com/office/drawing/2014/main" id="{916BB812-6974-EFB2-9401-A3C86697ED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  <p:sp>
        <p:nvSpPr>
          <p:cNvPr id="492" name="Google Shape;492;gcc7554a049_0_358:notes">
            <a:extLst>
              <a:ext uri="{FF2B5EF4-FFF2-40B4-BE49-F238E27FC236}">
                <a16:creationId xmlns:a16="http://schemas.microsoft.com/office/drawing/2014/main" id="{99E2F4C4-79C1-594F-BF22-09D3340FA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783389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105aad17dc0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  <p:sp>
        <p:nvSpPr>
          <p:cNvPr id="569" name="Google Shape;569;g105aad17dc0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39975" y="13245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40000" y="33771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257975" y="-72550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6467450" y="3935375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9pPr>
          </a:lstStyle>
          <a:p>
            <a:endParaRPr/>
          </a:p>
        </p:txBody>
      </p:sp>
      <p:cxnSp>
        <p:nvCxnSpPr>
          <p:cNvPr id="26" name="Google Shape;26;p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28;p4"/>
          <p:cNvCxnSpPr/>
          <p:nvPr/>
        </p:nvCxnSpPr>
        <p:spPr>
          <a:xfrm>
            <a:off x="6884900" y="-113600"/>
            <a:ext cx="2565600" cy="1306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3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3583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"/>
          </p:nvPr>
        </p:nvSpPr>
        <p:spPr>
          <a:xfrm>
            <a:off x="5001000" y="1942925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2"/>
          </p:nvPr>
        </p:nvSpPr>
        <p:spPr>
          <a:xfrm>
            <a:off x="5001000" y="2255100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3"/>
          </p:nvPr>
        </p:nvSpPr>
        <p:spPr>
          <a:xfrm>
            <a:off x="1655200" y="1942925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4"/>
          </p:nvPr>
        </p:nvSpPr>
        <p:spPr>
          <a:xfrm>
            <a:off x="1655200" y="2255100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5"/>
          </p:nvPr>
        </p:nvSpPr>
        <p:spPr>
          <a:xfrm>
            <a:off x="5001000" y="3723950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6"/>
          </p:nvPr>
        </p:nvSpPr>
        <p:spPr>
          <a:xfrm>
            <a:off x="5001000" y="4036125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7"/>
          </p:nvPr>
        </p:nvSpPr>
        <p:spPr>
          <a:xfrm>
            <a:off x="1655200" y="3723950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8"/>
          </p:nvPr>
        </p:nvSpPr>
        <p:spPr>
          <a:xfrm>
            <a:off x="1655250" y="4036125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9" hasCustomPrompt="1"/>
          </p:nvPr>
        </p:nvSpPr>
        <p:spPr>
          <a:xfrm>
            <a:off x="2378650" y="130358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13" hasCustomPrompt="1"/>
          </p:nvPr>
        </p:nvSpPr>
        <p:spPr>
          <a:xfrm>
            <a:off x="5724450" y="130358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14" hasCustomPrompt="1"/>
          </p:nvPr>
        </p:nvSpPr>
        <p:spPr>
          <a:xfrm>
            <a:off x="2378700" y="308273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5" hasCustomPrompt="1"/>
          </p:nvPr>
        </p:nvSpPr>
        <p:spPr>
          <a:xfrm>
            <a:off x="5724450" y="308273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cxnSp>
        <p:nvCxnSpPr>
          <p:cNvPr id="87" name="Google Shape;87;p1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" name="Google Shape;88;p1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4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 txBox="1">
            <a:spLocks noGrp="1"/>
          </p:cNvSpPr>
          <p:nvPr>
            <p:ph type="title"/>
          </p:nvPr>
        </p:nvSpPr>
        <p:spPr>
          <a:xfrm>
            <a:off x="3742850" y="1549875"/>
            <a:ext cx="4545000" cy="12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1pPr>
            <a:lvl2pPr lvl="1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45" name="Google Shape;145;p20"/>
          <p:cNvSpPr txBox="1">
            <a:spLocks noGrp="1"/>
          </p:cNvSpPr>
          <p:nvPr>
            <p:ph type="subTitle" idx="1"/>
          </p:nvPr>
        </p:nvSpPr>
        <p:spPr>
          <a:xfrm>
            <a:off x="3742850" y="3039213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cxnSp>
        <p:nvCxnSpPr>
          <p:cNvPr id="146" name="Google Shape;146;p2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" name="Google Shape;147;p2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" name="Google Shape;148;p20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9" name="Google Shape;149;p20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" name="Google Shape;150;p20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0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6" name="Google Shape;456;p5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7" name="Google Shape;457;p5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_1"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9" name="Google Shape;459;p5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5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1" name="Google Shape;461;p52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2" name="Google Shape;462;p52"/>
          <p:cNvCxnSpPr/>
          <p:nvPr/>
        </p:nvCxnSpPr>
        <p:spPr>
          <a:xfrm>
            <a:off x="-147275" y="3943475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0_1_1"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Google Shape;464;p5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5" name="Google Shape;465;p5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53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8" name="Google Shape;468;p5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9" name="Google Shape;469;p5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0" name="Google Shape;470;p54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1" name="Google Shape;471;p54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2" name="Google Shape;472;p54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3" name="Google Shape;473;p54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5" r:id="rId3"/>
    <p:sldLayoutId id="2147483658" r:id="rId4"/>
    <p:sldLayoutId id="2147483659" r:id="rId5"/>
    <p:sldLayoutId id="2147483666" r:id="rId6"/>
    <p:sldLayoutId id="2147483697" r:id="rId7"/>
    <p:sldLayoutId id="2147483698" r:id="rId8"/>
    <p:sldLayoutId id="2147483699" r:id="rId9"/>
    <p:sldLayoutId id="214748370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60"/>
          <p:cNvSpPr txBox="1">
            <a:spLocks noGrp="1"/>
          </p:cNvSpPr>
          <p:nvPr>
            <p:ph type="ctrTitle"/>
          </p:nvPr>
        </p:nvSpPr>
        <p:spPr>
          <a:xfrm>
            <a:off x="0" y="981604"/>
            <a:ext cx="9144000" cy="101304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/>
              <a:t>BCSE309L : Cryptography &amp; Network Security </a:t>
            </a:r>
            <a:br>
              <a:rPr lang="en-US" sz="2800" dirty="0"/>
            </a:br>
            <a:r>
              <a:rPr lang="en-US" sz="2800" dirty="0"/>
              <a:t>Project Review</a:t>
            </a:r>
            <a:endParaRPr sz="2800" dirty="0"/>
          </a:p>
        </p:txBody>
      </p:sp>
      <p:sp>
        <p:nvSpPr>
          <p:cNvPr id="489" name="Google Shape;489;p60"/>
          <p:cNvSpPr txBox="1">
            <a:spLocks noGrp="1"/>
          </p:cNvSpPr>
          <p:nvPr>
            <p:ph type="subTitle" idx="1"/>
          </p:nvPr>
        </p:nvSpPr>
        <p:spPr>
          <a:xfrm>
            <a:off x="1039950" y="2224600"/>
            <a:ext cx="7064100" cy="2443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1100"/>
            </a:pPr>
            <a:r>
              <a:rPr lang="en-US" b="1" dirty="0"/>
              <a:t>Project Title : </a:t>
            </a:r>
            <a:r>
              <a:rPr lang="en-US" dirty="0"/>
              <a:t>Man-in-the-Middle on Diffie-Hellman</a:t>
            </a:r>
          </a:p>
          <a:p>
            <a:pPr marL="0" lvl="0" indent="0">
              <a:buClr>
                <a:schemeClr val="dk1"/>
              </a:buClr>
              <a:buSzPts val="1100"/>
            </a:pPr>
            <a:endParaRPr lang="en-US" dirty="0"/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b="1" dirty="0"/>
              <a:t>Team Members :</a:t>
            </a:r>
          </a:p>
          <a:p>
            <a:pPr marL="342900" lvl="0">
              <a:buClr>
                <a:schemeClr val="dk1"/>
              </a:buClr>
              <a:buSzPts val="1100"/>
              <a:buAutoNum type="arabicPeriod"/>
            </a:pPr>
            <a:r>
              <a:rPr lang="en-US" dirty="0"/>
              <a:t>Nikhil Parkar – 23BAI1199</a:t>
            </a:r>
          </a:p>
          <a:p>
            <a:pPr marL="342900" lvl="0">
              <a:buClr>
                <a:schemeClr val="dk1"/>
              </a:buClr>
              <a:buSzPts val="1100"/>
              <a:buAutoNum type="arabicPeriod"/>
            </a:pPr>
            <a:r>
              <a:rPr lang="en-US" dirty="0"/>
              <a:t>Nischay Kuchibotla – 23BAI1245</a:t>
            </a:r>
          </a:p>
          <a:p>
            <a:pPr marL="342900" lvl="0">
              <a:buClr>
                <a:schemeClr val="dk1"/>
              </a:buClr>
              <a:buSzPts val="1100"/>
              <a:buAutoNum type="arabicPeriod"/>
            </a:pPr>
            <a:r>
              <a:rPr lang="en-US" dirty="0"/>
              <a:t>Priyanshu Solanki – 23BAI1206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4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4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Problem Statement</a:t>
            </a:r>
            <a:endParaRPr dirty="0"/>
          </a:p>
        </p:txBody>
      </p:sp>
      <p:sp>
        <p:nvSpPr>
          <p:cNvPr id="495" name="Google Shape;495;p61"/>
          <p:cNvSpPr txBox="1">
            <a:spLocks noGrp="1"/>
          </p:cNvSpPr>
          <p:nvPr>
            <p:ph type="body" idx="1"/>
          </p:nvPr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50000"/>
              </a:lnSpc>
              <a:buSzPts val="1100"/>
              <a:buNone/>
            </a:pPr>
            <a:r>
              <a:rPr lang="en-US" dirty="0">
                <a:highlight>
                  <a:srgbClr val="00FFFF"/>
                </a:highlight>
              </a:rPr>
              <a:t>Diffie-Hellman</a:t>
            </a:r>
            <a:r>
              <a:rPr lang="en-US" dirty="0"/>
              <a:t> allows key agreement over insecure channels but is vulnerable to MITM without authentication. An </a:t>
            </a:r>
            <a:r>
              <a:rPr lang="en-US" dirty="0">
                <a:highlight>
                  <a:srgbClr val="00FFFF"/>
                </a:highlight>
              </a:rPr>
              <a:t>attacker</a:t>
            </a:r>
            <a:r>
              <a:rPr lang="en-US" dirty="0"/>
              <a:t> can </a:t>
            </a:r>
            <a:r>
              <a:rPr lang="en-US" dirty="0">
                <a:highlight>
                  <a:srgbClr val="00FFFF"/>
                </a:highlight>
              </a:rPr>
              <a:t>intercept g^a and g^b</a:t>
            </a:r>
            <a:r>
              <a:rPr lang="en-US" dirty="0"/>
              <a:t>, substitute own values, and share separate keys with Alice and Bob. In this project, simulate three parties </a:t>
            </a:r>
            <a:r>
              <a:rPr lang="en-US" dirty="0">
                <a:highlight>
                  <a:srgbClr val="00FFFF"/>
                </a:highlight>
              </a:rPr>
              <a:t>(Alice, Bob, Attacker) </a:t>
            </a:r>
            <a:r>
              <a:rPr lang="en-US" dirty="0"/>
              <a:t>using console messages (print exchanges). Implement basic DH from scratch. Show attacker intercepts and substitutes public values. Prevention: add </a:t>
            </a:r>
            <a:r>
              <a:rPr lang="en-US" dirty="0">
                <a:highlight>
                  <a:srgbClr val="00FFFF"/>
                </a:highlight>
              </a:rPr>
              <a:t>RSA signatures</a:t>
            </a:r>
            <a:r>
              <a:rPr lang="en-US" dirty="0"/>
              <a:t> to DH parameters for authenticity. Run 20–25 test cases with 100% MITM success before fix, 0% after signatures. Prove mathematically why unauthenticated DH allows substitution (no binding to identity) and how signatures prevent it. Use simple </a:t>
            </a:r>
            <a:r>
              <a:rPr lang="en-US" dirty="0">
                <a:highlight>
                  <a:srgbClr val="00FFFF"/>
                </a:highlight>
              </a:rPr>
              <a:t>Tkinter GUI</a:t>
            </a:r>
            <a:r>
              <a:rPr lang="en-US" dirty="0"/>
              <a:t>: Generate Parameters, Run Attack (MITM), Apply Prevention(signatures), Show Graphs + log showing message flow (red attacker arrows), secure status(green). Results in </a:t>
            </a:r>
            <a:r>
              <a:rPr lang="en-US" dirty="0">
                <a:highlight>
                  <a:srgbClr val="00FFFF"/>
                </a:highlight>
              </a:rPr>
              <a:t>4 mandatory graphs</a:t>
            </a:r>
            <a:r>
              <a:rPr lang="en-US" dirty="0"/>
              <a:t>: success rate before/after, time vs key size, authentication rate, latency overhead.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6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3583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Literature Review</a:t>
            </a:r>
            <a:br>
              <a:rPr lang="en-US" dirty="0"/>
            </a:br>
            <a:endParaRPr dirty="0"/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881B73B0-F90A-A4DE-5224-766A7DAB7F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233804"/>
              </p:ext>
            </p:extLst>
          </p:nvPr>
        </p:nvGraphicFramePr>
        <p:xfrm>
          <a:off x="66907" y="1017725"/>
          <a:ext cx="8958148" cy="3296920"/>
        </p:xfrm>
        <a:graphic>
          <a:graphicData uri="http://schemas.openxmlformats.org/drawingml/2006/table">
            <a:tbl>
              <a:tblPr firstRow="1" bandRow="1">
                <a:tableStyleId>{925D15C9-F2E0-4EDD-8A7B-61C40F314727}</a:tableStyleId>
              </a:tblPr>
              <a:tblGrid>
                <a:gridCol w="624469">
                  <a:extLst>
                    <a:ext uri="{9D8B030D-6E8A-4147-A177-3AD203B41FA5}">
                      <a16:colId xmlns:a16="http://schemas.microsoft.com/office/drawing/2014/main" val="219993438"/>
                    </a:ext>
                  </a:extLst>
                </a:gridCol>
                <a:gridCol w="2118731">
                  <a:extLst>
                    <a:ext uri="{9D8B030D-6E8A-4147-A177-3AD203B41FA5}">
                      <a16:colId xmlns:a16="http://schemas.microsoft.com/office/drawing/2014/main" val="2189315012"/>
                    </a:ext>
                  </a:extLst>
                </a:gridCol>
                <a:gridCol w="1144859">
                  <a:extLst>
                    <a:ext uri="{9D8B030D-6E8A-4147-A177-3AD203B41FA5}">
                      <a16:colId xmlns:a16="http://schemas.microsoft.com/office/drawing/2014/main" val="868192065"/>
                    </a:ext>
                  </a:extLst>
                </a:gridCol>
                <a:gridCol w="5070089">
                  <a:extLst>
                    <a:ext uri="{9D8B030D-6E8A-4147-A177-3AD203B41FA5}">
                      <a16:colId xmlns:a16="http://schemas.microsoft.com/office/drawing/2014/main" val="15681241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50" dirty="0"/>
                        <a:t>Sr No.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Book Title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Author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Description</a:t>
                      </a:r>
                      <a:endParaRPr lang="en-IN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48774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50" dirty="0"/>
                        <a:t>1.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105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Cryptography and Network Security: Principles and Practice (7th ed.). Pearson Education</a:t>
                      </a:r>
                      <a:endParaRPr lang="en-IN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1050" dirty="0"/>
                        <a:t>W. Stallings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dirty="0"/>
                        <a:t>Stallings provides comprehensive coverage of the Diffie-Hellman protocol, MITM attacks, and countermeasures including </a:t>
                      </a:r>
                      <a:r>
                        <a:rPr lang="en-US" sz="1050" dirty="0" err="1"/>
                        <a:t>ElGamal</a:t>
                      </a:r>
                      <a:r>
                        <a:rPr lang="en-US" sz="1050" dirty="0"/>
                        <a:t> signatures and HMAC. The book presents these as a unified security framework where signatures provide authentication and HMAC ensures message integrity.</a:t>
                      </a:r>
                      <a:endParaRPr lang="en-IN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114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50" dirty="0"/>
                        <a:t>2.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105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Handbook of Applied Cryptography. CRC Press.</a:t>
                      </a:r>
                      <a:endParaRPr lang="en-IN" sz="105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 rtl="0"/>
                      <a:r>
                        <a:rPr lang="nl-NL" sz="1050" dirty="0"/>
                        <a:t>A. J. Menezes, P. C. van Oorschot, and S. A. Vanstone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1050" dirty="0"/>
                        <a:t>This handbook formally defines the DH protocol, MITM attack scenarios, </a:t>
                      </a:r>
                      <a:r>
                        <a:rPr lang="en-IN" sz="1050" dirty="0" err="1"/>
                        <a:t>ElGamal</a:t>
                      </a:r>
                      <a:r>
                        <a:rPr lang="en-IN" sz="1050" dirty="0"/>
                        <a:t> signature scheme, and HMAC with rigorous mathematical proofs. It remains the definitive reference for researchers requiring complete algorithmic specifications and formal security definitions.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18752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50" dirty="0"/>
                        <a:t>3.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b="1" i="1" dirty="0"/>
                        <a:t>Applied Cryptography: Protocols, Algorithms, and Source Code in C</a:t>
                      </a:r>
                      <a:r>
                        <a:rPr lang="en-US" sz="1050" b="1" dirty="0"/>
                        <a:t>, 2nd ed. John Wiley &amp; Sons, 1996.</a:t>
                      </a:r>
                      <a:endParaRPr lang="en-US" sz="1050" b="1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1050" dirty="0"/>
                        <a:t>B. Schneier,</a:t>
                      </a:r>
                      <a:endParaRPr lang="en-IN" sz="105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dirty="0"/>
                        <a:t>Schneier explicitly warns about DH's MITM vulnerability and covers </a:t>
                      </a:r>
                      <a:r>
                        <a:rPr lang="en-US" sz="1050" dirty="0" err="1"/>
                        <a:t>ElGamal</a:t>
                      </a:r>
                      <a:r>
                        <a:rPr lang="en-US" sz="1050" dirty="0"/>
                        <a:t> signatures and keyed MAC constructs as practical defenses. His unique strength lies in illustrating real-world attack scenarios and why combining DH with signatures and MACs is essential.</a:t>
                      </a:r>
                      <a:endParaRPr lang="en-IN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0050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50" dirty="0"/>
                        <a:t>4. 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b="1" i="1" dirty="0"/>
                        <a:t>Understanding Cryptography: A Textbook for Students and Practitioners</a:t>
                      </a:r>
                      <a:r>
                        <a:rPr lang="en-US" sz="1050" b="1" dirty="0"/>
                        <a:t>. Springer, 2010.</a:t>
                      </a:r>
                      <a:endParaRPr lang="en-US" sz="1050" b="1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dirty="0"/>
                        <a:t>C. Paar and J. Pelzl</a:t>
                      </a:r>
                      <a:endParaRPr lang="en-IN" sz="105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dirty="0"/>
                        <a:t>Paar and Pelzl provide step-by-step coverage of DH key exchange, SHA-256, HMAC, and </a:t>
                      </a:r>
                      <a:r>
                        <a:rPr lang="en-US" sz="1050" dirty="0" err="1"/>
                        <a:t>ElGamal</a:t>
                      </a:r>
                      <a:r>
                        <a:rPr lang="en-US" sz="1050" dirty="0"/>
                        <a:t> signatures within a unified mathematical narrative. The book naturally leads the reader from the DH MITM vulnerability to the cryptographic tools that resolve it.</a:t>
                      </a:r>
                      <a:endParaRPr lang="en-IN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95527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>
          <a:extLst>
            <a:ext uri="{FF2B5EF4-FFF2-40B4-BE49-F238E27FC236}">
              <a16:creationId xmlns:a16="http://schemas.microsoft.com/office/drawing/2014/main" id="{DFB1EAD9-C6E8-63A2-6F93-063A0582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62">
            <a:extLst>
              <a:ext uri="{FF2B5EF4-FFF2-40B4-BE49-F238E27FC236}">
                <a16:creationId xmlns:a16="http://schemas.microsoft.com/office/drawing/2014/main" id="{4069D8D9-DDAE-A00E-1376-2178DAF6D7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3583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Literature Review</a:t>
            </a:r>
            <a:br>
              <a:rPr lang="en-US" dirty="0"/>
            </a:br>
            <a:endParaRPr dirty="0"/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3EAED7A0-4301-0601-84D8-8B0D9C052D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496192"/>
              </p:ext>
            </p:extLst>
          </p:nvPr>
        </p:nvGraphicFramePr>
        <p:xfrm>
          <a:off x="66907" y="1017725"/>
          <a:ext cx="8958148" cy="3296920"/>
        </p:xfrm>
        <a:graphic>
          <a:graphicData uri="http://schemas.openxmlformats.org/drawingml/2006/table">
            <a:tbl>
              <a:tblPr firstRow="1" bandRow="1">
                <a:tableStyleId>{925D15C9-F2E0-4EDD-8A7B-61C40F314727}</a:tableStyleId>
              </a:tblPr>
              <a:tblGrid>
                <a:gridCol w="624469">
                  <a:extLst>
                    <a:ext uri="{9D8B030D-6E8A-4147-A177-3AD203B41FA5}">
                      <a16:colId xmlns:a16="http://schemas.microsoft.com/office/drawing/2014/main" val="219993438"/>
                    </a:ext>
                  </a:extLst>
                </a:gridCol>
                <a:gridCol w="2118731">
                  <a:extLst>
                    <a:ext uri="{9D8B030D-6E8A-4147-A177-3AD203B41FA5}">
                      <a16:colId xmlns:a16="http://schemas.microsoft.com/office/drawing/2014/main" val="2189315012"/>
                    </a:ext>
                  </a:extLst>
                </a:gridCol>
                <a:gridCol w="1144859">
                  <a:extLst>
                    <a:ext uri="{9D8B030D-6E8A-4147-A177-3AD203B41FA5}">
                      <a16:colId xmlns:a16="http://schemas.microsoft.com/office/drawing/2014/main" val="868192065"/>
                    </a:ext>
                  </a:extLst>
                </a:gridCol>
                <a:gridCol w="5070089">
                  <a:extLst>
                    <a:ext uri="{9D8B030D-6E8A-4147-A177-3AD203B41FA5}">
                      <a16:colId xmlns:a16="http://schemas.microsoft.com/office/drawing/2014/main" val="15681241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50" dirty="0"/>
                        <a:t>Sr No.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Book Title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Author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Description</a:t>
                      </a:r>
                      <a:endParaRPr lang="en-IN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48774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50" dirty="0"/>
                        <a:t>5.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b="1" i="1" dirty="0"/>
                        <a:t>Cryptography and Network Security</a:t>
                      </a:r>
                      <a:r>
                        <a:rPr lang="en-US" sz="1050" b="1" dirty="0"/>
                        <a:t>. McGraw-Hill, 2007.</a:t>
                      </a:r>
                      <a:endParaRPr lang="en-IN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1050" dirty="0"/>
                        <a:t>B. A. Forouzan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dirty="0"/>
                        <a:t>Forouzan explains the MITM attack on DH and covers SHA-256, HMAC, and </a:t>
                      </a:r>
                      <a:r>
                        <a:rPr lang="en-US" sz="1050" dirty="0" err="1"/>
                        <a:t>ElGamal</a:t>
                      </a:r>
                      <a:r>
                        <a:rPr lang="en-US" sz="1050" dirty="0"/>
                        <a:t> signatures as layered countermeasures within real protocols such as TLS and IPSec. His protocol-level perspective makes it ideal for understanding end-to-end MITM prevention in real systems.</a:t>
                      </a:r>
                      <a:endParaRPr lang="en-IN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114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50" dirty="0"/>
                        <a:t>6.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b="1" i="1" dirty="0"/>
                        <a:t>Introduction to Modern Cryptography</a:t>
                      </a:r>
                      <a:r>
                        <a:rPr lang="en-US" sz="1050" b="1" dirty="0"/>
                        <a:t>, 3rd ed. CRC Press, 2020.</a:t>
                      </a:r>
                      <a:endParaRPr lang="en-IN" sz="1050" b="1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de-DE" sz="1050" dirty="0"/>
                        <a:t>J. Katz and Y. Lindell</a:t>
                      </a:r>
                      <a:br>
                        <a:rPr lang="en-IN" sz="1050" dirty="0"/>
                      </a:b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dirty="0"/>
                        <a:t>Katz and Lindell formalize the DH assumption, MITM attack, HMAC security, and </a:t>
                      </a:r>
                      <a:r>
                        <a:rPr lang="en-US" sz="1050" dirty="0" err="1"/>
                        <a:t>ElGamal</a:t>
                      </a:r>
                      <a:r>
                        <a:rPr lang="en-US" sz="1050" dirty="0"/>
                        <a:t> signatures through provable security theory and formal reductions. This textbook provides the strongest theoretical justification for why HMAC and </a:t>
                      </a:r>
                      <a:r>
                        <a:rPr lang="en-US" sz="1050" dirty="0" err="1"/>
                        <a:t>ElGamal</a:t>
                      </a:r>
                      <a:r>
                        <a:rPr lang="en-US" sz="1050" dirty="0"/>
                        <a:t> signatures are necessary and sufficient to prevent MITM attacks.</a:t>
                      </a:r>
                      <a:endParaRPr lang="en-IN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18752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50" dirty="0"/>
                        <a:t>7.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b="1" i="1" dirty="0"/>
                        <a:t>Computer Security: Art and Science</a:t>
                      </a:r>
                      <a:r>
                        <a:rPr lang="en-US" sz="1050" b="1" dirty="0"/>
                        <a:t>, 2nd ed. Addison-Wesley/Pearson, 2018.</a:t>
                      </a:r>
                      <a:endParaRPr lang="en-US" sz="1050" b="1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1050" dirty="0"/>
                        <a:t>M. Bishop</a:t>
                      </a:r>
                      <a:endParaRPr lang="en-IN" sz="105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dirty="0"/>
                        <a:t>Bishop contextualizes MITM attacks within the Dolev-Yao threat model and presents SHA-256, HMAC, and </a:t>
                      </a:r>
                      <a:r>
                        <a:rPr lang="en-US" sz="1050" dirty="0" err="1"/>
                        <a:t>ElGamal</a:t>
                      </a:r>
                      <a:r>
                        <a:rPr lang="en-US" sz="1050" dirty="0"/>
                        <a:t> signatures as the principal cryptographic defenses. The book uniquely ties these tools to broader security architecture, key management policy, and certificate infrastructure.</a:t>
                      </a:r>
                      <a:endParaRPr lang="en-IN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0050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50" dirty="0"/>
                        <a:t>8. 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b="1" i="1" dirty="0"/>
                        <a:t>Network Security: Private Communication in a Public World</a:t>
                      </a:r>
                      <a:r>
                        <a:rPr lang="en-US" sz="1050" b="1" dirty="0"/>
                        <a:t>, 2nd ed. Prentice Hall, 2002.</a:t>
                      </a:r>
                      <a:endParaRPr lang="en-US" sz="1050" b="1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dirty="0"/>
                        <a:t>C. Kaufman, R. Perlman, and M. </a:t>
                      </a:r>
                      <a:r>
                        <a:rPr lang="en-US" sz="1050" dirty="0" err="1"/>
                        <a:t>Speciner</a:t>
                      </a:r>
                      <a:endParaRPr lang="en-IN" sz="105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050" dirty="0"/>
                        <a:t>This book walks through the MITM attack at the protocol message level and demonstrates how </a:t>
                      </a:r>
                      <a:r>
                        <a:rPr lang="en-US" sz="1050" dirty="0" err="1"/>
                        <a:t>ElGamal</a:t>
                      </a:r>
                      <a:r>
                        <a:rPr lang="en-US" sz="1050" dirty="0"/>
                        <a:t> signatures and HMAC-SHA256 close the vulnerability in real protocols like IKE and SSL/TLS. It is an essential reference for implementation-oriented research on MITM prevention.</a:t>
                      </a:r>
                      <a:endParaRPr lang="en-IN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9552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589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>
          <a:extLst>
            <a:ext uri="{FF2B5EF4-FFF2-40B4-BE49-F238E27FC236}">
              <a16:creationId xmlns:a16="http://schemas.microsoft.com/office/drawing/2014/main" id="{B227F976-964F-C70F-5F05-29160B23B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1">
            <a:extLst>
              <a:ext uri="{FF2B5EF4-FFF2-40B4-BE49-F238E27FC236}">
                <a16:creationId xmlns:a16="http://schemas.microsoft.com/office/drawing/2014/main" id="{30EB7F53-F594-7968-BCFE-66BC4A00DD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Mathematical Background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5" name="Google Shape;495;p61">
                <a:extLst>
                  <a:ext uri="{FF2B5EF4-FFF2-40B4-BE49-F238E27FC236}">
                    <a16:creationId xmlns:a16="http://schemas.microsoft.com/office/drawing/2014/main" id="{CFCB810B-2DD2-E0D8-C25B-BA2A8AD886A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713250" y="1198583"/>
                <a:ext cx="7717500" cy="3295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algn="just">
                  <a:lnSpc>
                    <a:spcPct val="150000"/>
                  </a:lnSpc>
                  <a:buSzPct val="100000"/>
                  <a:buFont typeface="Arial" panose="020B0604020202020204" pitchFamily="34" charset="0"/>
                  <a:buChar char="•"/>
                </a:pPr>
                <a:r>
                  <a:rPr lang="en-IN" sz="1050" spc="30" dirty="0"/>
                  <a:t>In the </a:t>
                </a:r>
                <a:r>
                  <a:rPr lang="en-IN" sz="1050" b="1" spc="30" dirty="0"/>
                  <a:t>classical Diffie–Hellman (DH) </a:t>
                </a:r>
                <a:r>
                  <a:rPr lang="en-IN" sz="1050" spc="30" dirty="0"/>
                  <a:t>key exchange, two parties agree on a large prime </a:t>
                </a:r>
                <a14:m>
                  <m:oMath xmlns:m="http://schemas.openxmlformats.org/officeDocument/2006/math">
                    <m:r>
                      <a:rPr lang="en-IN" sz="1050" i="1" spc="3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050" b="0" i="1" spc="3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IN" sz="1050" spc="30" dirty="0"/>
                  <a:t>and generator </a:t>
                </a:r>
                <a14:m>
                  <m:oMath xmlns:m="http://schemas.openxmlformats.org/officeDocument/2006/math">
                    <m:r>
                      <a:rPr lang="en-IN" sz="1050" i="1" spc="3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IN" sz="1050" spc="30" dirty="0"/>
                  <a:t>, then exchange public values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b="1" i="1" spc="3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𝒂</m:t>
                        </m:r>
                      </m:sup>
                    </m:sSup>
                    <m:r>
                      <m:rPr>
                        <m:nor/>
                      </m:rPr>
                      <a:rPr lang="ar-AE" sz="1050" b="1" i="1" spc="30"/>
                      <m:t> </m:t>
                    </m:r>
                    <m:r>
                      <a:rPr lang="en-IN" sz="1050" b="1" i="1" spc="30">
                        <a:latin typeface="Cambria Math" panose="02040503050406030204" pitchFamily="18" charset="0"/>
                      </a:rPr>
                      <m:t>𝐦𝐨𝐝</m:t>
                    </m:r>
                    <m:r>
                      <m:rPr>
                        <m:nor/>
                      </m:rPr>
                      <a:rPr lang="en-IN" sz="1050" b="1" i="1" spc="30"/>
                      <m:t> </m:t>
                    </m:r>
                    <m:r>
                      <a:rPr lang="en-IN" sz="1050" b="1" i="1" spc="3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IN" sz="1050" b="1" spc="30" dirty="0"/>
                  <a:t> </a:t>
                </a:r>
                <a:r>
                  <a:rPr lang="en-IN" sz="1050" spc="3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b="1" i="1" spc="3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𝒃</m:t>
                        </m:r>
                      </m:sup>
                    </m:sSup>
                    <m:r>
                      <m:rPr>
                        <m:nor/>
                      </m:rPr>
                      <a:rPr lang="ar-AE" sz="1050" b="1" i="1" spc="30"/>
                      <m:t> </m:t>
                    </m:r>
                    <m:r>
                      <a:rPr lang="en-IN" sz="1050" b="1" i="1" spc="30">
                        <a:latin typeface="Cambria Math" panose="02040503050406030204" pitchFamily="18" charset="0"/>
                      </a:rPr>
                      <m:t>𝐦𝐨𝐝</m:t>
                    </m:r>
                    <m:r>
                      <m:rPr>
                        <m:nor/>
                      </m:rPr>
                      <a:rPr lang="en-IN" sz="1050" b="1" i="1" spc="30"/>
                      <m:t> </m:t>
                    </m:r>
                    <m:r>
                      <a:rPr lang="en-IN" sz="1050" b="1" i="1" spc="3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IN" sz="1050" spc="30" dirty="0"/>
                  <a:t>. </a:t>
                </a:r>
              </a:p>
              <a:p>
                <a:pPr algn="just">
                  <a:lnSpc>
                    <a:spcPct val="150000"/>
                  </a:lnSpc>
                  <a:buSzPct val="100000"/>
                  <a:buFont typeface="Arial" panose="020B0604020202020204" pitchFamily="34" charset="0"/>
                  <a:buChar char="•"/>
                </a:pPr>
                <a:r>
                  <a:rPr lang="en-IN" sz="1050" spc="30" dirty="0"/>
                  <a:t>Each computes the shared secret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b="1" i="1" spc="3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𝒂𝒃</m:t>
                        </m:r>
                      </m:sup>
                    </m:sSup>
                    <m:r>
                      <m:rPr>
                        <m:nor/>
                      </m:rPr>
                      <a:rPr lang="ar-AE" sz="1050" b="1" i="1" spc="30"/>
                      <m:t> </m:t>
                    </m:r>
                    <m:r>
                      <a:rPr lang="en-IN" sz="1050" b="1" i="1" spc="30">
                        <a:latin typeface="Cambria Math" panose="02040503050406030204" pitchFamily="18" charset="0"/>
                      </a:rPr>
                      <m:t>𝐦𝐨𝐝</m:t>
                    </m:r>
                    <m:r>
                      <m:rPr>
                        <m:nor/>
                      </m:rPr>
                      <a:rPr lang="en-IN" sz="1050" b="1" i="1" spc="30"/>
                      <m:t> </m:t>
                    </m:r>
                    <m:r>
                      <a:rPr lang="en-IN" sz="1050" b="1" i="1" spc="3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IN" sz="1050" spc="30" dirty="0"/>
                  <a:t>. </a:t>
                </a:r>
              </a:p>
              <a:p>
                <a:pPr algn="just">
                  <a:lnSpc>
                    <a:spcPct val="150000"/>
                  </a:lnSpc>
                  <a:buSzPct val="100000"/>
                  <a:buFont typeface="Arial" panose="020B0604020202020204" pitchFamily="34" charset="0"/>
                  <a:buChar char="•"/>
                </a:pPr>
                <a:r>
                  <a:rPr lang="en-IN" sz="1050" spc="30" dirty="0"/>
                  <a:t>The security relies on the hardness of the </a:t>
                </a:r>
                <a:r>
                  <a:rPr lang="en-IN" sz="1050" b="1" spc="30" dirty="0"/>
                  <a:t>Discrete Logarithm Problem</a:t>
                </a:r>
                <a:r>
                  <a:rPr lang="en-IN" sz="1050" spc="30" dirty="0"/>
                  <a:t>, which prevents an attacker from deriving the private keys from public information.</a:t>
                </a:r>
              </a:p>
              <a:p>
                <a:pPr algn="just">
                  <a:lnSpc>
                    <a:spcPct val="150000"/>
                  </a:lnSpc>
                  <a:buSzPct val="100000"/>
                  <a:buFont typeface="Arial" panose="020B0604020202020204" pitchFamily="34" charset="0"/>
                  <a:buChar char="•"/>
                </a:pPr>
                <a:r>
                  <a:rPr lang="en-IN" sz="1050" spc="30" dirty="0"/>
                  <a:t>However, DH provides secrecy without authentication. </a:t>
                </a:r>
              </a:p>
              <a:p>
                <a:pPr algn="just">
                  <a:lnSpc>
                    <a:spcPct val="150000"/>
                  </a:lnSpc>
                  <a:buSzPct val="100000"/>
                  <a:buFont typeface="Arial" panose="020B0604020202020204" pitchFamily="34" charset="0"/>
                  <a:buChar char="•"/>
                </a:pPr>
                <a:r>
                  <a:rPr lang="en-IN" sz="1050" spc="30" dirty="0"/>
                  <a:t>In a </a:t>
                </a:r>
                <a:r>
                  <a:rPr lang="en-IN" sz="1050" b="1" spc="30" dirty="0"/>
                  <a:t>Man-in-the-Middle (MITM) attack</a:t>
                </a:r>
                <a:r>
                  <a:rPr lang="en-IN" sz="1050" spc="30" dirty="0"/>
                  <a:t>, an active adversary intercepts the public values and replaces them with their own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b="1" i="1" spc="3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𝒎</m:t>
                        </m:r>
                      </m:sup>
                    </m:sSup>
                    <m:r>
                      <m:rPr>
                        <m:nor/>
                      </m:rPr>
                      <a:rPr lang="ar-AE" sz="1050" b="1" i="1" spc="30"/>
                      <m:t> </m:t>
                    </m:r>
                    <m:r>
                      <a:rPr lang="en-IN" sz="1050" b="1" i="1" spc="30">
                        <a:latin typeface="Cambria Math" panose="02040503050406030204" pitchFamily="18" charset="0"/>
                      </a:rPr>
                      <m:t>𝐦𝐨𝐝</m:t>
                    </m:r>
                    <m:r>
                      <m:rPr>
                        <m:nor/>
                      </m:rPr>
                      <a:rPr lang="en-IN" sz="1050" b="1" i="1" spc="30"/>
                      <m:t> </m:t>
                    </m:r>
                    <m:r>
                      <a:rPr lang="en-IN" sz="1050" b="1" i="1" spc="3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IN" sz="1050" spc="30" dirty="0"/>
                  <a:t>. </a:t>
                </a:r>
              </a:p>
              <a:p>
                <a:pPr algn="just">
                  <a:lnSpc>
                    <a:spcPct val="150000"/>
                  </a:lnSpc>
                  <a:buSzPct val="100000"/>
                  <a:buFont typeface="Arial" panose="020B0604020202020204" pitchFamily="34" charset="0"/>
                  <a:buChar char="•"/>
                </a:pPr>
                <a:r>
                  <a:rPr lang="en-IN" sz="1050" spc="30" dirty="0"/>
                  <a:t>Consequently, </a:t>
                </a:r>
                <a:r>
                  <a:rPr lang="en-IN" sz="1050" b="1" spc="30" dirty="0"/>
                  <a:t>Party A</a:t>
                </a:r>
                <a:r>
                  <a:rPr lang="en-IN" sz="1050" spc="30" dirty="0"/>
                  <a:t> derives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b="1" i="1" spc="3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𝒂𝒎</m:t>
                        </m:r>
                      </m:sup>
                    </m:sSup>
                  </m:oMath>
                </a14:m>
                <a:r>
                  <a:rPr lang="en-IN" sz="1050" spc="30" dirty="0"/>
                  <a:t> and </a:t>
                </a:r>
                <a:r>
                  <a:rPr lang="en-IN" sz="1050" b="1" spc="30" dirty="0"/>
                  <a:t>Party B</a:t>
                </a:r>
                <a:r>
                  <a:rPr lang="en-IN" sz="1050" spc="30" dirty="0"/>
                  <a:t> derives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b="1" i="1" spc="3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ar-AE" sz="1050" b="1" i="1" spc="30">
                            <a:latin typeface="Cambria Math" panose="02040503050406030204" pitchFamily="18" charset="0"/>
                          </a:rPr>
                          <m:t>𝒃𝒎</m:t>
                        </m:r>
                      </m:sup>
                    </m:sSup>
                  </m:oMath>
                </a14:m>
                <a:r>
                  <a:rPr lang="ar-AE" sz="1050" spc="30" dirty="0"/>
                  <a:t>, </a:t>
                </a:r>
                <a:r>
                  <a:rPr lang="en-IN" sz="1050" spc="30" dirty="0"/>
                  <a:t>each unknowingly sharing a key with the attacker instead of with each other. </a:t>
                </a:r>
              </a:p>
              <a:p>
                <a:pPr algn="just">
                  <a:lnSpc>
                    <a:spcPct val="150000"/>
                  </a:lnSpc>
                  <a:buSzPct val="100000"/>
                  <a:buFont typeface="Arial" panose="020B0604020202020204" pitchFamily="34" charset="0"/>
                  <a:buChar char="•"/>
                </a:pPr>
                <a:r>
                  <a:rPr lang="en-IN" sz="1050" spc="30" dirty="0"/>
                  <a:t>The attack succeeds not by breaking the underlying mathematics, but by exploiting the absence of identity verification in the protocol.</a:t>
                </a:r>
              </a:p>
              <a:p>
                <a:pPr marL="0" lvl="0" indent="0" algn="just">
                  <a:buSzPts val="1100"/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495" name="Google Shape;495;p61">
                <a:extLst>
                  <a:ext uri="{FF2B5EF4-FFF2-40B4-BE49-F238E27FC236}">
                    <a16:creationId xmlns:a16="http://schemas.microsoft.com/office/drawing/2014/main" id="{CFCB810B-2DD2-E0D8-C25B-BA2A8AD886A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13250" y="1198583"/>
                <a:ext cx="7717500" cy="329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6918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>
          <a:extLst>
            <a:ext uri="{FF2B5EF4-FFF2-40B4-BE49-F238E27FC236}">
              <a16:creationId xmlns:a16="http://schemas.microsoft.com/office/drawing/2014/main" id="{0F2F3C4C-A97F-254C-839B-EEFBA7646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1">
            <a:extLst>
              <a:ext uri="{FF2B5EF4-FFF2-40B4-BE49-F238E27FC236}">
                <a16:creationId xmlns:a16="http://schemas.microsoft.com/office/drawing/2014/main" id="{56A447AF-F9E1-39D7-05AF-A85A8971B8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6914209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System &amp; Attack Model</a:t>
            </a:r>
            <a:endParaRPr dirty="0"/>
          </a:p>
        </p:txBody>
      </p:sp>
      <p:pic>
        <p:nvPicPr>
          <p:cNvPr id="1028" name="Picture 4" descr="middle attacks during key exchange ...">
            <a:extLst>
              <a:ext uri="{FF2B5EF4-FFF2-40B4-BE49-F238E27FC236}">
                <a16:creationId xmlns:a16="http://schemas.microsoft.com/office/drawing/2014/main" id="{5079B746-EF3F-D28E-B5A0-9C51329A2E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213" y="1105597"/>
            <a:ext cx="4081573" cy="2027952"/>
          </a:xfrm>
          <a:prstGeom prst="rect">
            <a:avLst/>
          </a:prstGeom>
          <a:noFill/>
          <a:ln w="317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C24DBA-9D4E-0B8E-A9FC-3A8E19272248}"/>
                  </a:ext>
                </a:extLst>
              </p:cNvPr>
              <p:cNvSpPr txBox="1"/>
              <p:nvPr/>
            </p:nvSpPr>
            <p:spPr>
              <a:xfrm>
                <a:off x="446048" y="3259436"/>
                <a:ext cx="8251902" cy="17376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:r>
                  <a:rPr lang="en-IN" sz="1050" b="1" dirty="0"/>
                  <a:t>System Model:</a:t>
                </a:r>
                <a:br>
                  <a:rPr lang="en-IN" sz="1050" dirty="0"/>
                </a:br>
                <a:r>
                  <a:rPr lang="en-IN" sz="1050" dirty="0"/>
                  <a:t>Two legitimate parties, A and B, perform the Diffie–Hellman key exchange by publicly sharing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r>
                      <m:rPr>
                        <m:nor/>
                      </m:rPr>
                      <a:rPr lang="ar-AE" sz="1050" i="1"/>
                      <m:t> </m:t>
                    </m:r>
                    <m:r>
                      <m:rPr>
                        <m:sty m:val="p"/>
                      </m:rPr>
                      <a:rPr lang="en-IN" sz="1050">
                        <a:latin typeface="Cambria Math" panose="02040503050406030204" pitchFamily="18" charset="0"/>
                      </a:rPr>
                      <m:t>mod</m:t>
                    </m:r>
                    <m:r>
                      <m:rPr>
                        <m:nor/>
                      </m:rPr>
                      <a:rPr lang="en-IN" sz="1050" i="1"/>
                      <m:t> </m:t>
                    </m:r>
                    <m:r>
                      <a:rPr lang="en-IN" sz="105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IN" sz="105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m:rPr>
                        <m:nor/>
                      </m:rPr>
                      <a:rPr lang="ar-AE" sz="1050" i="1"/>
                      <m:t> </m:t>
                    </m:r>
                    <m:r>
                      <m:rPr>
                        <m:sty m:val="p"/>
                      </m:rPr>
                      <a:rPr lang="en-IN" sz="1050">
                        <a:latin typeface="Cambria Math" panose="02040503050406030204" pitchFamily="18" charset="0"/>
                      </a:rPr>
                      <m:t>mod</m:t>
                    </m:r>
                    <m:r>
                      <m:rPr>
                        <m:nor/>
                      </m:rPr>
                      <a:rPr lang="en-IN" sz="1050" i="1"/>
                      <m:t> </m:t>
                    </m:r>
                    <m:r>
                      <a:rPr lang="en-IN" sz="105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IN" sz="1050" dirty="0"/>
                  <a:t>to compute a shared secret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𝑎𝑏</m:t>
                        </m:r>
                      </m:sup>
                    </m:sSup>
                    <m:r>
                      <m:rPr>
                        <m:nor/>
                      </m:rPr>
                      <a:rPr lang="ar-AE" sz="1050" i="1"/>
                      <m:t> </m:t>
                    </m:r>
                    <m:r>
                      <m:rPr>
                        <m:sty m:val="p"/>
                      </m:rPr>
                      <a:rPr lang="en-IN" sz="1050">
                        <a:latin typeface="Cambria Math" panose="02040503050406030204" pitchFamily="18" charset="0"/>
                      </a:rPr>
                      <m:t>mod</m:t>
                    </m:r>
                    <m:r>
                      <m:rPr>
                        <m:nor/>
                      </m:rPr>
                      <a:rPr lang="en-IN" sz="1050" i="1"/>
                      <m:t> </m:t>
                    </m:r>
                    <m:r>
                      <a:rPr lang="en-IN" sz="105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IN" sz="1050" dirty="0"/>
                  <a:t>over an insecure channel without built-in authentication.</a:t>
                </a:r>
                <a:br>
                  <a:rPr lang="en-IN" sz="1050" dirty="0"/>
                </a:br>
                <a:endParaRPr lang="en-IN" sz="1050" dirty="0"/>
              </a:p>
              <a:p>
                <a:pPr>
                  <a:lnSpc>
                    <a:spcPct val="114000"/>
                  </a:lnSpc>
                </a:pPr>
                <a:r>
                  <a:rPr lang="en-IN" sz="1050" b="1" dirty="0"/>
                  <a:t>Attack Model (MITM):</a:t>
                </a:r>
                <a:br>
                  <a:rPr lang="en-IN" sz="1050" dirty="0"/>
                </a:br>
                <a:r>
                  <a:rPr lang="en-IN" sz="1050" dirty="0"/>
                  <a:t>An active adversary intercepts and replaces the exchanged public values with their own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m:rPr>
                        <m:nor/>
                      </m:rPr>
                      <a:rPr lang="ar-AE" sz="1050" i="1"/>
                      <m:t> </m:t>
                    </m:r>
                    <m:r>
                      <m:rPr>
                        <m:sty m:val="p"/>
                      </m:rPr>
                      <a:rPr lang="en-IN" sz="1050">
                        <a:latin typeface="Cambria Math" panose="02040503050406030204" pitchFamily="18" charset="0"/>
                      </a:rPr>
                      <m:t>mod</m:t>
                    </m:r>
                    <m:r>
                      <m:rPr>
                        <m:nor/>
                      </m:rPr>
                      <a:rPr lang="en-IN" sz="1050" i="1"/>
                      <m:t> </m:t>
                    </m:r>
                    <m:r>
                      <a:rPr lang="en-IN" sz="105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IN" sz="1050" dirty="0"/>
                  <a:t>, establishing two separate keys: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𝑎𝑚</m:t>
                        </m:r>
                      </m:sup>
                    </m:sSup>
                    <m:r>
                      <m:rPr>
                        <m:nor/>
                      </m:rPr>
                      <a:rPr lang="ar-AE" sz="1050" i="1"/>
                      <m:t> </m:t>
                    </m:r>
                    <m:r>
                      <m:rPr>
                        <m:sty m:val="p"/>
                      </m:rPr>
                      <a:rPr lang="en-IN" sz="1050">
                        <a:latin typeface="Cambria Math" panose="02040503050406030204" pitchFamily="18" charset="0"/>
                      </a:rPr>
                      <m:t>mod</m:t>
                    </m:r>
                    <m:r>
                      <m:rPr>
                        <m:nor/>
                      </m:rPr>
                      <a:rPr lang="en-IN" sz="1050" i="1"/>
                      <m:t> </m:t>
                    </m:r>
                    <m:r>
                      <a:rPr lang="en-IN" sz="105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IN" sz="1050" dirty="0"/>
                  <a:t> with A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5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ar-AE" sz="1050" i="1">
                            <a:latin typeface="Cambria Math" panose="02040503050406030204" pitchFamily="18" charset="0"/>
                          </a:rPr>
                          <m:t>𝑏𝑚</m:t>
                        </m:r>
                      </m:sup>
                    </m:sSup>
                    <m:r>
                      <m:rPr>
                        <m:nor/>
                      </m:rPr>
                      <a:rPr lang="ar-AE" sz="1050" i="1"/>
                      <m:t> </m:t>
                    </m:r>
                    <m:r>
                      <m:rPr>
                        <m:sty m:val="p"/>
                      </m:rPr>
                      <a:rPr lang="en-IN" sz="1050">
                        <a:latin typeface="Cambria Math" panose="02040503050406030204" pitchFamily="18" charset="0"/>
                      </a:rPr>
                      <m:t>mod</m:t>
                    </m:r>
                    <m:r>
                      <m:rPr>
                        <m:nor/>
                      </m:rPr>
                      <a:rPr lang="en-IN" sz="1050" i="1"/>
                      <m:t> </m:t>
                    </m:r>
                    <m:r>
                      <a:rPr lang="en-IN" sz="105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IN" sz="1050" dirty="0"/>
                  <a:t> with B, allowing the attacker to decrypt, modify, and re-encrypt messages transparently between both parties.</a:t>
                </a:r>
              </a:p>
              <a:p>
                <a:endParaRPr lang="en-IN" sz="105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C24DBA-9D4E-0B8E-A9FC-3A8E19272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048" y="3259436"/>
                <a:ext cx="8251902" cy="17376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088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>
          <a:extLst>
            <a:ext uri="{FF2B5EF4-FFF2-40B4-BE49-F238E27FC236}">
              <a16:creationId xmlns:a16="http://schemas.microsoft.com/office/drawing/2014/main" id="{664F5029-3C9C-DD93-BEDF-B9E62EBFA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1">
            <a:extLst>
              <a:ext uri="{FF2B5EF4-FFF2-40B4-BE49-F238E27FC236}">
                <a16:creationId xmlns:a16="http://schemas.microsoft.com/office/drawing/2014/main" id="{EC19F562-A2AB-4F66-A571-B7DBA2654B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6914209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Partial Attack Results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406CB6-0A81-A41C-BEF6-0DEBFDB0B3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772" y="1133009"/>
            <a:ext cx="2059266" cy="179439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0631208-7983-DF83-9AF1-27DCD989F6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101" y="1133009"/>
            <a:ext cx="2059266" cy="179439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78DAE0-7718-7B4B-7FCA-950D29D51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3101" y="3006443"/>
            <a:ext cx="2059266" cy="179439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7FFB26-DA65-5155-5322-02E6300BA8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9772" y="3006443"/>
            <a:ext cx="2059266" cy="1794392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7044897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69"/>
          <p:cNvSpPr txBox="1">
            <a:spLocks noGrp="1"/>
          </p:cNvSpPr>
          <p:nvPr>
            <p:ph type="title"/>
          </p:nvPr>
        </p:nvSpPr>
        <p:spPr>
          <a:xfrm>
            <a:off x="1294153" y="1926150"/>
            <a:ext cx="6555694" cy="12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5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1525</TotalTime>
  <Words>1026</Words>
  <Application>Microsoft Office PowerPoint</Application>
  <PresentationFormat>On-screen Show (16:9)</PresentationFormat>
  <Paragraphs>64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Cambria Math</vt:lpstr>
      <vt:lpstr>Vidaloka</vt:lpstr>
      <vt:lpstr>Montserrat</vt:lpstr>
      <vt:lpstr>Arial</vt:lpstr>
      <vt:lpstr>Lato</vt:lpstr>
      <vt:lpstr>Minimalist Business Slides XL by Slidesgo</vt:lpstr>
      <vt:lpstr>BCSE309L : Cryptography &amp; Network Security  Project Review</vt:lpstr>
      <vt:lpstr>Problem Statement</vt:lpstr>
      <vt:lpstr>Literature Review </vt:lpstr>
      <vt:lpstr>Literature Review </vt:lpstr>
      <vt:lpstr>Mathematical Background</vt:lpstr>
      <vt:lpstr>System &amp; Attack Model</vt:lpstr>
      <vt:lpstr>Partial Attack Results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Nikhil</dc:creator>
  <cp:lastModifiedBy>Nikhil Parkar</cp:lastModifiedBy>
  <cp:revision>30</cp:revision>
  <dcterms:modified xsi:type="dcterms:W3CDTF">2026-03-30T18:26:18Z</dcterms:modified>
</cp:coreProperties>
</file>