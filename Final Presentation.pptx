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4"/>
  </p:notesMasterIdLst>
  <p:sldIdLst>
    <p:sldId id="256" r:id="rId2"/>
    <p:sldId id="257" r:id="rId3"/>
    <p:sldId id="258" r:id="rId4"/>
    <p:sldId id="356" r:id="rId5"/>
    <p:sldId id="349" r:id="rId6"/>
    <p:sldId id="350" r:id="rId7"/>
    <p:sldId id="355" r:id="rId8"/>
    <p:sldId id="358" r:id="rId9"/>
    <p:sldId id="360" r:id="rId10"/>
    <p:sldId id="361" r:id="rId11"/>
    <p:sldId id="359" r:id="rId12"/>
    <p:sldId id="265" r:id="rId1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Vidaloka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5D15C9-F2E0-4EDD-8A7B-61C40F314727}">
  <a:tblStyle styleId="{925D15C9-F2E0-4EDD-8A7B-61C40F3147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348420C2-EEC0-CC6C-7629-8B2C224E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636ED2F6-0DDA-063F-0015-57A7885C9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6D140CF3-76DE-CC92-9EDC-531F5F817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4082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BB96A4E0-1BD3-5781-ABA5-61120D31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53404C1A-B002-4990-50CB-4499C164E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62E6CD20-3A5B-4960-5DCB-050482BB5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5055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5FC56399-02B1-C418-A7C8-E2950BB1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CB3D513D-6BF9-74DE-DFCE-A2EFD2A7A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19083C30-DC3F-57EC-5636-7D72C0FB1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366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A4302478-2C5E-64FE-6716-1ECADC09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916BB812-6974-EFB2-9401-A3C86697E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99E2F4C4-79C1-594F-BF22-09D3340FA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8338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6A40A121-7324-A868-E2D1-E6C48F6A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F64D3C9F-D103-F402-26DE-69C1BF639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6142D1CF-89DB-96AE-4BF6-BFFB68525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8976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C2628021-3457-7BA5-4577-6F76677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FBF4AB56-7B4B-17FA-7479-ED63D1A34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BC35BFF0-3A9E-07FB-85F7-16231F6BB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916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48D2B7B5-30A3-563D-9E7B-B061496D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3FA3D747-D766-B396-9A44-F093E7C45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5688CC7E-EBFB-0179-439D-5FAF70520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8897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67B12D61-162D-B1C7-7EFA-E5343B16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66B2F10C-772E-A40E-68EB-AFE655C99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316A9D2F-64EF-C108-06F9-A59BCD84E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5032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569" name="Google Shape;569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6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0" y="981604"/>
            <a:ext cx="9144000" cy="10130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BCSE309L : Cryptography &amp; Network Security </a:t>
            </a:r>
            <a:br>
              <a:rPr lang="en-US" sz="2800" dirty="0"/>
            </a:br>
            <a:r>
              <a:rPr lang="en-US" sz="2800" dirty="0"/>
              <a:t>Project Review</a:t>
            </a:r>
            <a:endParaRPr sz="28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2224600"/>
            <a:ext cx="7064100" cy="2443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b="1" dirty="0"/>
              <a:t>Project Title : </a:t>
            </a:r>
            <a:r>
              <a:rPr lang="en-US" dirty="0"/>
              <a:t>Man-in-the-Middle on Diffie-Hellman</a:t>
            </a:r>
          </a:p>
          <a:p>
            <a:pPr marL="0" lvl="0" indent="0">
              <a:buClr>
                <a:schemeClr val="dk1"/>
              </a:buClr>
              <a:buSzPts val="1100"/>
            </a:pPr>
            <a:endParaRPr lang="en-US" dirty="0"/>
          </a:p>
          <a:p>
            <a:pPr marL="0" lvl="0" indent="0">
              <a:buClr>
                <a:schemeClr val="dk1"/>
              </a:buClr>
              <a:buSzPts val="1100"/>
            </a:pPr>
            <a:r>
              <a:rPr lang="en-US" b="1" dirty="0"/>
              <a:t>Team Members :</a:t>
            </a:r>
          </a:p>
          <a:p>
            <a:pPr marL="342900" lvl="0">
              <a:buClr>
                <a:schemeClr val="dk1"/>
              </a:buClr>
              <a:buSzPts val="1100"/>
              <a:buAutoNum type="arabicPeriod"/>
            </a:pPr>
            <a:r>
              <a:rPr lang="en-US" dirty="0"/>
              <a:t>Nikhil Parkar – 23BAI1199</a:t>
            </a:r>
          </a:p>
          <a:p>
            <a:pPr marL="342900" lvl="0">
              <a:buClr>
                <a:schemeClr val="dk1"/>
              </a:buClr>
              <a:buSzPts val="1100"/>
              <a:buAutoNum type="arabicPeriod"/>
            </a:pPr>
            <a:r>
              <a:rPr lang="en-US" dirty="0"/>
              <a:t>Nischay Kuchibotla – 23BAI1245</a:t>
            </a:r>
          </a:p>
          <a:p>
            <a:pPr marL="342900" lvl="0">
              <a:buClr>
                <a:schemeClr val="dk1"/>
              </a:buClr>
              <a:buSzPts val="1100"/>
              <a:buAutoNum type="arabicPeriod"/>
            </a:pPr>
            <a:r>
              <a:rPr lang="en-US" dirty="0"/>
              <a:t>Priyanshu Solanki – 23BAI1206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SzPts val="1100"/>
              <a:buNone/>
            </a:pPr>
            <a:r>
              <a:rPr lang="en-US" dirty="0">
                <a:highlight>
                  <a:srgbClr val="00FFFF"/>
                </a:highlight>
              </a:rPr>
              <a:t>Diffie-Hellman</a:t>
            </a:r>
            <a:r>
              <a:rPr lang="en-US" dirty="0"/>
              <a:t> allows key agreement over insecure channels but is vulnerable to MITM without authentication. An </a:t>
            </a:r>
            <a:r>
              <a:rPr lang="en-US" dirty="0">
                <a:highlight>
                  <a:srgbClr val="00FFFF"/>
                </a:highlight>
              </a:rPr>
              <a:t>attacker</a:t>
            </a:r>
            <a:r>
              <a:rPr lang="en-US" dirty="0"/>
              <a:t> can </a:t>
            </a:r>
            <a:r>
              <a:rPr lang="en-US" dirty="0">
                <a:highlight>
                  <a:srgbClr val="00FFFF"/>
                </a:highlight>
              </a:rPr>
              <a:t>intercept g^a and g^b</a:t>
            </a:r>
            <a:r>
              <a:rPr lang="en-US" dirty="0"/>
              <a:t>, substitute own values, and share separate keys with Alice and Bob. In this project, simulate three parties </a:t>
            </a:r>
            <a:r>
              <a:rPr lang="en-US" dirty="0">
                <a:highlight>
                  <a:srgbClr val="00FFFF"/>
                </a:highlight>
              </a:rPr>
              <a:t>(Alice, Bob, Attacker) </a:t>
            </a:r>
            <a:r>
              <a:rPr lang="en-US" dirty="0"/>
              <a:t>using console messages (print exchanges). Implement basic DH from scratch. Show attacker intercepts and substitutes public values. Prevention: add </a:t>
            </a:r>
            <a:r>
              <a:rPr lang="en-US" dirty="0">
                <a:highlight>
                  <a:srgbClr val="00FFFF"/>
                </a:highlight>
              </a:rPr>
              <a:t>RSA signatures</a:t>
            </a:r>
            <a:r>
              <a:rPr lang="en-US" dirty="0"/>
              <a:t> to DH parameters for authenticity. Run 20–25 test cases with 100% MITM success before fix, 0% after signatures. Prove mathematically why unauthenticated DH allows substitution (no binding to identity) and how signatures prevent it. Use simple </a:t>
            </a:r>
            <a:r>
              <a:rPr lang="en-US" dirty="0">
                <a:highlight>
                  <a:srgbClr val="00FFFF"/>
                </a:highlight>
              </a:rPr>
              <a:t>Tkinter GUI</a:t>
            </a:r>
            <a:r>
              <a:rPr lang="en-US" dirty="0"/>
              <a:t>: Generate Parameters, Run Attack (MITM), Apply Prevention(signatures), Show Graphs + log showing message flow (red attacker arrows), secure status(green). Results in </a:t>
            </a:r>
            <a:r>
              <a:rPr lang="en-US" dirty="0">
                <a:highlight>
                  <a:srgbClr val="00FFFF"/>
                </a:highlight>
              </a:rPr>
              <a:t>4 mandatory graphs</a:t>
            </a:r>
            <a:r>
              <a:rPr lang="en-US" dirty="0"/>
              <a:t>: success rate before/after, time vs key size, authentication rate, latency overhead.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br>
              <a:rPr lang="en-US" dirty="0"/>
            </a:br>
            <a:endParaRPr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81B73B0-F90A-A4DE-5224-766A7DAB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233804"/>
              </p:ext>
            </p:extLst>
          </p:nvPr>
        </p:nvGraphicFramePr>
        <p:xfrm>
          <a:off x="66907" y="1017725"/>
          <a:ext cx="8958148" cy="3296920"/>
        </p:xfrm>
        <a:graphic>
          <a:graphicData uri="http://schemas.openxmlformats.org/drawingml/2006/table">
            <a:tbl>
              <a:tblPr firstRow="1" bandRow="1">
                <a:tableStyleId>{925D15C9-F2E0-4EDD-8A7B-61C40F314727}</a:tableStyleId>
              </a:tblPr>
              <a:tblGrid>
                <a:gridCol w="624469">
                  <a:extLst>
                    <a:ext uri="{9D8B030D-6E8A-4147-A177-3AD203B41FA5}">
                      <a16:colId xmlns:a16="http://schemas.microsoft.com/office/drawing/2014/main" val="219993438"/>
                    </a:ext>
                  </a:extLst>
                </a:gridCol>
                <a:gridCol w="2118731">
                  <a:extLst>
                    <a:ext uri="{9D8B030D-6E8A-4147-A177-3AD203B41FA5}">
                      <a16:colId xmlns:a16="http://schemas.microsoft.com/office/drawing/2014/main" val="2189315012"/>
                    </a:ext>
                  </a:extLst>
                </a:gridCol>
                <a:gridCol w="1144859">
                  <a:extLst>
                    <a:ext uri="{9D8B030D-6E8A-4147-A177-3AD203B41FA5}">
                      <a16:colId xmlns:a16="http://schemas.microsoft.com/office/drawing/2014/main" val="868192065"/>
                    </a:ext>
                  </a:extLst>
                </a:gridCol>
                <a:gridCol w="5070089">
                  <a:extLst>
                    <a:ext uri="{9D8B030D-6E8A-4147-A177-3AD203B41FA5}">
                      <a16:colId xmlns:a16="http://schemas.microsoft.com/office/drawing/2014/main" val="1568124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Sr No.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Book Title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Author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Description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7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1.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Cryptography and Network Security: Principles and Practice (7th ed.). Pearson Education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W. Stallings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Stallings provides comprehensive coverage of the Diffie-Hellman protocol, MITM attacks, and countermeasures including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and HMAC. The book presents these as a unified security framework where signatures provide authentication and HMAC ensures message integrity.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11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2.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Handbook of Applied Cryptography. CRC Press.</a:t>
                      </a:r>
                      <a:endParaRPr lang="en-IN" sz="105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0"/>
                      <a:r>
                        <a:rPr lang="nl-NL" sz="1050" dirty="0"/>
                        <a:t>A. J. Menezes, P. C. van Oorschot, and S. A. Vanstone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This handbook formally defines the DH protocol, MITM attack scenarios, </a:t>
                      </a:r>
                      <a:r>
                        <a:rPr lang="en-IN" sz="1050" dirty="0" err="1"/>
                        <a:t>ElGamal</a:t>
                      </a:r>
                      <a:r>
                        <a:rPr lang="en-IN" sz="1050" dirty="0"/>
                        <a:t> signature scheme, and HMAC with rigorous mathematical proofs. It remains the definitive reference for researchers requiring complete algorithmic specifications and formal security definitions.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75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3.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Applied Cryptography: Protocols, Algorithms, and Source Code in C</a:t>
                      </a:r>
                      <a:r>
                        <a:rPr lang="en-US" sz="1050" b="1" dirty="0"/>
                        <a:t>, 2nd ed. John Wiley &amp; Sons, 1996.</a:t>
                      </a:r>
                      <a:endParaRPr lang="en-US" sz="105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B. Schneier,</a:t>
                      </a:r>
                      <a:endParaRPr lang="en-IN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Schneier explicitly warns about DH's MITM vulnerability and covers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and keyed MAC constructs as practical defenses. His unique strength lies in illustrating real-world attack scenarios and why combining DH with signatures and MACs is essential.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5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4.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Understanding Cryptography: A Textbook for Students and Practitioners</a:t>
                      </a:r>
                      <a:r>
                        <a:rPr lang="en-US" sz="1050" b="1" dirty="0"/>
                        <a:t>. Springer, 2010.</a:t>
                      </a:r>
                      <a:endParaRPr lang="en-US" sz="105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C. Paar and J. Pelzl</a:t>
                      </a:r>
                      <a:endParaRPr lang="en-IN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Paar and Pelzl provide step-by-step coverage of DH key exchange, SHA-256, HMAC, and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within a unified mathematical narrative. The book naturally leads the reader from the DH MITM vulnerability to the cryptographic tools that resolve it.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52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DFB1EAD9-C6E8-63A2-6F93-063A0582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4069D8D9-DDAE-A00E-1376-2178DAF6D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br>
              <a:rPr lang="en-US" dirty="0"/>
            </a:br>
            <a:endParaRPr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EAED7A0-4301-0601-84D8-8B0D9C052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496192"/>
              </p:ext>
            </p:extLst>
          </p:nvPr>
        </p:nvGraphicFramePr>
        <p:xfrm>
          <a:off x="66907" y="1017725"/>
          <a:ext cx="8958148" cy="3296920"/>
        </p:xfrm>
        <a:graphic>
          <a:graphicData uri="http://schemas.openxmlformats.org/drawingml/2006/table">
            <a:tbl>
              <a:tblPr firstRow="1" bandRow="1">
                <a:tableStyleId>{925D15C9-F2E0-4EDD-8A7B-61C40F314727}</a:tableStyleId>
              </a:tblPr>
              <a:tblGrid>
                <a:gridCol w="624469">
                  <a:extLst>
                    <a:ext uri="{9D8B030D-6E8A-4147-A177-3AD203B41FA5}">
                      <a16:colId xmlns:a16="http://schemas.microsoft.com/office/drawing/2014/main" val="219993438"/>
                    </a:ext>
                  </a:extLst>
                </a:gridCol>
                <a:gridCol w="2118731">
                  <a:extLst>
                    <a:ext uri="{9D8B030D-6E8A-4147-A177-3AD203B41FA5}">
                      <a16:colId xmlns:a16="http://schemas.microsoft.com/office/drawing/2014/main" val="2189315012"/>
                    </a:ext>
                  </a:extLst>
                </a:gridCol>
                <a:gridCol w="1144859">
                  <a:extLst>
                    <a:ext uri="{9D8B030D-6E8A-4147-A177-3AD203B41FA5}">
                      <a16:colId xmlns:a16="http://schemas.microsoft.com/office/drawing/2014/main" val="868192065"/>
                    </a:ext>
                  </a:extLst>
                </a:gridCol>
                <a:gridCol w="5070089">
                  <a:extLst>
                    <a:ext uri="{9D8B030D-6E8A-4147-A177-3AD203B41FA5}">
                      <a16:colId xmlns:a16="http://schemas.microsoft.com/office/drawing/2014/main" val="1568124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Sr No.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Book Title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Author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Description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7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5.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Cryptography and Network Security</a:t>
                      </a:r>
                      <a:r>
                        <a:rPr lang="en-US" sz="1050" b="1" dirty="0"/>
                        <a:t>. McGraw-Hill, 2007.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B. A. Forouzan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Forouzan explains the MITM attack on DH and covers SHA-256, HMAC, and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as layered countermeasures within real protocols such as TLS and IPSec. His protocol-level perspective makes it ideal for understanding end-to-end MITM prevention in real systems.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11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6.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Introduction to Modern Cryptography</a:t>
                      </a:r>
                      <a:r>
                        <a:rPr lang="en-US" sz="1050" b="1" dirty="0"/>
                        <a:t>, 3rd ed. CRC Press, 2020.</a:t>
                      </a:r>
                      <a:endParaRPr lang="en-IN" sz="105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de-DE" sz="1050" dirty="0"/>
                        <a:t>J. Katz and Y. Lindell</a:t>
                      </a:r>
                      <a:br>
                        <a:rPr lang="en-IN" sz="1050" dirty="0"/>
                      </a:b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Katz and Lindell formalize the DH assumption, MITM attack, HMAC security, and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through provable security theory and formal reductions. This textbook provides the strongest theoretical justification for why HMAC and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are necessary and sufficient to prevent MITM attacks.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75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7.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Computer Security: Art and Science</a:t>
                      </a:r>
                      <a:r>
                        <a:rPr lang="en-US" sz="1050" b="1" dirty="0"/>
                        <a:t>, 2nd ed. Addison-Wesley/Pearson, 2018.</a:t>
                      </a:r>
                      <a:endParaRPr lang="en-US" sz="105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M. Bishop</a:t>
                      </a:r>
                      <a:endParaRPr lang="en-IN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Bishop contextualizes MITM attacks within the Dolev-Yao threat model and presents SHA-256, HMAC, and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as the principal cryptographic defenses. The book uniquely ties these tools to broader security architecture, key management policy, and certificate infrastructure.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05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8.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b="1" i="1" dirty="0"/>
                        <a:t>Network Security: Private Communication in a Public World</a:t>
                      </a:r>
                      <a:r>
                        <a:rPr lang="en-US" sz="1050" b="1" dirty="0"/>
                        <a:t>, 2nd ed. Prentice Hall, 2002.</a:t>
                      </a:r>
                      <a:endParaRPr lang="en-US" sz="105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C. Kaufman, R. Perlman, and M. </a:t>
                      </a:r>
                      <a:r>
                        <a:rPr lang="en-US" sz="1050" dirty="0" err="1"/>
                        <a:t>Speciner</a:t>
                      </a:r>
                      <a:endParaRPr lang="en-IN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/>
                        <a:t>This book walks through the MITM attack at the protocol message level and demonstrates how </a:t>
                      </a:r>
                      <a:r>
                        <a:rPr lang="en-US" sz="1050" dirty="0" err="1"/>
                        <a:t>ElGamal</a:t>
                      </a:r>
                      <a:r>
                        <a:rPr lang="en-US" sz="1050" dirty="0"/>
                        <a:t> signatures and HMAC-SHA256 close the vulnerability in real protocols like IKE and SSL/TLS. It is an essential reference for implementation-oriented research on MITM prevention.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5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58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B227F976-964F-C70F-5F05-29160B23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30EB7F53-F594-7968-BCFE-66BC4A00DD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Mathematical Background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CFCB810B-2DD2-E0D8-C25B-BA2A8AD886A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13250" y="1198583"/>
                <a:ext cx="7717500" cy="3295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In the </a:t>
                </a:r>
                <a:r>
                  <a:rPr lang="en-IN" sz="1050" b="1" spc="30" dirty="0"/>
                  <a:t>classical Diffie–Hellman (DH) </a:t>
                </a:r>
                <a:r>
                  <a:rPr lang="en-IN" sz="1050" spc="30" dirty="0"/>
                  <a:t>key exchange, two parties agree on a large prime </a:t>
                </a:r>
                <a14:m>
                  <m:oMath xmlns:m="http://schemas.openxmlformats.org/officeDocument/2006/math">
                    <m:r>
                      <a:rPr lang="en-IN" sz="1050" i="1" spc="3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050" b="0" i="1" spc="3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50" spc="30" dirty="0"/>
                  <a:t>and generator </a:t>
                </a:r>
                <a14:m>
                  <m:oMath xmlns:m="http://schemas.openxmlformats.org/officeDocument/2006/math">
                    <m:r>
                      <a:rPr lang="en-IN" sz="1050" i="1" spc="3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sz="1050" spc="30" dirty="0"/>
                  <a:t>, then exchange public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𝒂</m:t>
                        </m:r>
                      </m:sup>
                    </m:sSup>
                    <m:r>
                      <m:rPr>
                        <m:nor/>
                      </m:rPr>
                      <a:rPr lang="ar-AE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𝐦𝐨𝐝</m:t>
                    </m:r>
                    <m:r>
                      <m:rPr>
                        <m:nor/>
                      </m:rPr>
                      <a:rPr lang="en-IN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IN" sz="1050" b="1" spc="30" dirty="0"/>
                  <a:t> </a:t>
                </a:r>
                <a:r>
                  <a:rPr lang="en-IN" sz="1050" spc="3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p>
                    <m:r>
                      <m:rPr>
                        <m:nor/>
                      </m:rPr>
                      <a:rPr lang="ar-AE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𝐦𝐨𝐝</m:t>
                    </m:r>
                    <m:r>
                      <m:rPr>
                        <m:nor/>
                      </m:rPr>
                      <a:rPr lang="en-IN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IN" sz="1050" spc="30" dirty="0"/>
                  <a:t>. 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Each computes the shared secret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𝒂𝒃</m:t>
                        </m:r>
                      </m:sup>
                    </m:sSup>
                    <m:r>
                      <m:rPr>
                        <m:nor/>
                      </m:rPr>
                      <a:rPr lang="ar-AE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𝐦𝐨𝐝</m:t>
                    </m:r>
                    <m:r>
                      <m:rPr>
                        <m:nor/>
                      </m:rPr>
                      <a:rPr lang="en-IN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IN" sz="1050" spc="30" dirty="0"/>
                  <a:t>. 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The security relies on the hardness of the </a:t>
                </a:r>
                <a:r>
                  <a:rPr lang="en-IN" sz="1050" b="1" spc="30" dirty="0"/>
                  <a:t>Discrete Logarithm Problem</a:t>
                </a:r>
                <a:r>
                  <a:rPr lang="en-IN" sz="1050" spc="30" dirty="0"/>
                  <a:t>, which prevents an attacker from deriving the private keys from public information.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However, DH provides secrecy without authentication. 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In a </a:t>
                </a:r>
                <a:r>
                  <a:rPr lang="en-IN" sz="1050" b="1" spc="30" dirty="0"/>
                  <a:t>Man-in-the-Middle (MITM) attack</a:t>
                </a:r>
                <a:r>
                  <a:rPr lang="en-IN" sz="1050" spc="30" dirty="0"/>
                  <a:t>, an active adversary intercepts the public values and replaces them with their own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m:rPr>
                        <m:nor/>
                      </m:rPr>
                      <a:rPr lang="ar-AE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𝐦𝐨𝐝</m:t>
                    </m:r>
                    <m:r>
                      <m:rPr>
                        <m:nor/>
                      </m:rPr>
                      <a:rPr lang="en-IN" sz="1050" b="1" i="1" spc="30"/>
                      <m:t> </m:t>
                    </m:r>
                    <m:r>
                      <a:rPr lang="en-IN" sz="1050" b="1" i="1" spc="3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IN" sz="1050" spc="30" dirty="0"/>
                  <a:t>. 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Consequently, </a:t>
                </a:r>
                <a:r>
                  <a:rPr lang="en-IN" sz="1050" b="1" spc="30" dirty="0"/>
                  <a:t>Party A</a:t>
                </a:r>
                <a:r>
                  <a:rPr lang="en-IN" sz="1050" spc="30" dirty="0"/>
                  <a:t> derives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𝒂𝒎</m:t>
                        </m:r>
                      </m:sup>
                    </m:sSup>
                  </m:oMath>
                </a14:m>
                <a:r>
                  <a:rPr lang="en-IN" sz="1050" spc="30" dirty="0"/>
                  <a:t> and </a:t>
                </a:r>
                <a:r>
                  <a:rPr lang="en-IN" sz="1050" b="1" spc="30" dirty="0"/>
                  <a:t>Party B</a:t>
                </a:r>
                <a:r>
                  <a:rPr lang="en-IN" sz="1050" spc="30" dirty="0"/>
                  <a:t> derives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b="1" i="1" spc="3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ar-AE" sz="1050" b="1" i="1" spc="30">
                            <a:latin typeface="Cambria Math" panose="02040503050406030204" pitchFamily="18" charset="0"/>
                          </a:rPr>
                          <m:t>𝒃𝒎</m:t>
                        </m:r>
                      </m:sup>
                    </m:sSup>
                  </m:oMath>
                </a14:m>
                <a:r>
                  <a:rPr lang="ar-AE" sz="1050" spc="30" dirty="0"/>
                  <a:t>, </a:t>
                </a:r>
                <a:r>
                  <a:rPr lang="en-IN" sz="1050" spc="30" dirty="0"/>
                  <a:t>each unknowingly sharing a key with the attacker instead of with each other. </a:t>
                </a:r>
              </a:p>
              <a:p>
                <a:pPr algn="just">
                  <a:lnSpc>
                    <a:spcPct val="150000"/>
                  </a:lnSpc>
                  <a:buSzPct val="100000"/>
                  <a:buFont typeface="Arial" panose="020B0604020202020204" pitchFamily="34" charset="0"/>
                  <a:buChar char="•"/>
                </a:pPr>
                <a:r>
                  <a:rPr lang="en-IN" sz="1050" spc="30" dirty="0"/>
                  <a:t>The attack succeeds not by breaking the underlying mathematics, but by exploiting the absence of identity verification in the protocol.</a:t>
                </a:r>
              </a:p>
              <a:p>
                <a:pPr marL="0" lvl="0" indent="0" algn="just">
                  <a:buSzPts val="11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CFCB810B-2DD2-E0D8-C25B-BA2A8AD886A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3250" y="1198583"/>
                <a:ext cx="7717500" cy="329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691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0F2F3C4C-A97F-254C-839B-EEFBA764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56A447AF-F9E1-39D7-05AF-A85A8971B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9142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&amp; Attack Model</a:t>
            </a:r>
            <a:endParaRPr dirty="0"/>
          </a:p>
        </p:txBody>
      </p:sp>
      <p:pic>
        <p:nvPicPr>
          <p:cNvPr id="1028" name="Picture 4" descr="middle attacks during key exchange ...">
            <a:extLst>
              <a:ext uri="{FF2B5EF4-FFF2-40B4-BE49-F238E27FC236}">
                <a16:creationId xmlns:a16="http://schemas.microsoft.com/office/drawing/2014/main" id="{5079B746-EF3F-D28E-B5A0-9C51329A2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213" y="1105597"/>
            <a:ext cx="4081573" cy="2027952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C24DBA-9D4E-0B8E-A9FC-3A8E19272248}"/>
                  </a:ext>
                </a:extLst>
              </p:cNvPr>
              <p:cNvSpPr txBox="1"/>
              <p:nvPr/>
            </p:nvSpPr>
            <p:spPr>
              <a:xfrm>
                <a:off x="446048" y="3259436"/>
                <a:ext cx="8251902" cy="1737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IN" sz="1050" b="1" dirty="0"/>
                  <a:t>System Model:</a:t>
                </a:r>
                <a:br>
                  <a:rPr lang="en-IN" sz="1050" dirty="0"/>
                </a:br>
                <a:r>
                  <a:rPr lang="en-IN" sz="1050" dirty="0"/>
                  <a:t>Two legitimate parties, A and B, perform the Diffie–Hellman key exchange by publicly sharing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to compute a shared secret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𝑎𝑏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over an insecure channel without built-in authentication.</a:t>
                </a:r>
                <a:br>
                  <a:rPr lang="en-IN" sz="1050" dirty="0"/>
                </a:br>
                <a:endParaRPr lang="en-IN" sz="1050" dirty="0"/>
              </a:p>
              <a:p>
                <a:pPr>
                  <a:lnSpc>
                    <a:spcPct val="114000"/>
                  </a:lnSpc>
                </a:pPr>
                <a:r>
                  <a:rPr lang="en-IN" sz="1050" b="1" dirty="0"/>
                  <a:t>Attack Model (MITM):</a:t>
                </a:r>
                <a:br>
                  <a:rPr lang="en-IN" sz="1050" dirty="0"/>
                </a:br>
                <a:r>
                  <a:rPr lang="en-IN" sz="1050" dirty="0"/>
                  <a:t>An active adversary intercepts and replaces the exchanged public values with their own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, establishing two separate keys: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𝑎𝑚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 with A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0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050" i="1">
                            <a:latin typeface="Cambria Math" panose="02040503050406030204" pitchFamily="18" charset="0"/>
                          </a:rPr>
                          <m:t>𝑏𝑚</m:t>
                        </m:r>
                      </m:sup>
                    </m:sSup>
                    <m:r>
                      <m:rPr>
                        <m:nor/>
                      </m:rPr>
                      <a:rPr lang="ar-AE" sz="1050" i="1"/>
                      <m:t> </m:t>
                    </m:r>
                    <m:r>
                      <m:rPr>
                        <m:sty m:val="p"/>
                      </m:rPr>
                      <a:rPr lang="en-IN" sz="105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050" i="1"/>
                      <m:t> </m:t>
                    </m:r>
                    <m:r>
                      <a:rPr lang="en-IN" sz="105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50" dirty="0"/>
                  <a:t> with B, allowing the attacker to decrypt, modify, and re-encrypt messages transparently between both parties.</a:t>
                </a:r>
              </a:p>
              <a:p>
                <a:endParaRPr lang="en-IN" sz="105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C24DBA-9D4E-0B8E-A9FC-3A8E19272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8" y="3259436"/>
                <a:ext cx="8251902" cy="17376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88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664F5029-3C9C-DD93-BEDF-B9E62EBF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EC19F562-A2AB-4F66-A571-B7DBA2654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9142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MITM Attack Results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406CB6-0A81-A41C-BEF6-0DEBFDB0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772" y="1133009"/>
            <a:ext cx="2059266" cy="1794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631208-7983-DF83-9AF1-27DCD989F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101" y="1133009"/>
            <a:ext cx="2059266" cy="1794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78DAE0-7718-7B4B-7FCA-950D29D51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101" y="3006443"/>
            <a:ext cx="2059266" cy="1794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7FFB26-DA65-5155-5322-02E6300BA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772" y="3006443"/>
            <a:ext cx="2059266" cy="17943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04489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FA329622-AF53-8F5C-C5E3-7392841D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2A9EA327-8060-83B5-6C0A-A1A13A528A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9998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Attack Prevention Techniques (1)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D34F9918-E55B-0E2D-3254-3D0134B74EF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</a:t>
                </a:r>
                <a:r>
                  <a:rPr lang="en-IN" b="1" dirty="0" err="1"/>
                  <a:t>ElGamal</a:t>
                </a:r>
                <a:r>
                  <a:rPr lang="en-IN" b="1" dirty="0"/>
                  <a:t> signature scheme</a:t>
                </a:r>
                <a:r>
                  <a:rPr lang="en-IN" dirty="0"/>
                  <a:t> is used to </a:t>
                </a:r>
                <a:r>
                  <a:rPr lang="en-IN" b="1" dirty="0"/>
                  <a:t>sign the Diffie–Hellman public values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Theory: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Signature proves that a public key (like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𝑔</m:t>
                        </m:r>
                      </m:e>
                      <m:sup>
                        <m:r>
                          <a:rPr lang="ar-AE" i="1"/>
                          <m:t>𝑎</m:t>
                        </m:r>
                      </m:sup>
                    </m:sSup>
                  </m:oMath>
                </a14:m>
                <a:r>
                  <a:rPr lang="ar-AE" dirty="0"/>
                  <a:t>) </a:t>
                </a:r>
                <a:r>
                  <a:rPr lang="en-IN" dirty="0"/>
                  <a:t>really came from the claimed sender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Verification ensures: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Integrity (not modified)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Authenticity (correct sender)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So in DH: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Instead of sending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𝑔</m:t>
                        </m:r>
                      </m:e>
                      <m:sup>
                        <m:r>
                          <a:rPr lang="ar-AE" i="1"/>
                          <m:t>𝑎</m:t>
                        </m:r>
                      </m:sup>
                    </m:sSup>
                  </m:oMath>
                </a14:m>
                <a:r>
                  <a:rPr lang="en-IN" dirty="0"/>
                  <a:t>directly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Send: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𝑔</m:t>
                        </m:r>
                      </m:e>
                      <m:sup>
                        <m:r>
                          <a:rPr lang="ar-AE" i="1"/>
                          <m:t>𝑎</m:t>
                        </m:r>
                      </m:sup>
                    </m:sSup>
                  </m:oMath>
                </a14:m>
                <a:r>
                  <a:rPr lang="ar-AE" dirty="0"/>
                  <a:t>+ </a:t>
                </a:r>
                <a:r>
                  <a:rPr lang="en-IN" dirty="0"/>
                  <a:t>signature -&gt; Prevents attacker from replacing values</a:t>
                </a:r>
              </a:p>
              <a:p>
                <a:pPr marL="171450" indent="-171450" algn="just">
                  <a:buSzPts val="1100"/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Nonce </a:t>
                </a:r>
                <a14:m>
                  <m:oMath xmlns:m="http://schemas.openxmlformats.org/officeDocument/2006/math">
                    <m:r>
                      <a:rPr lang="en-US" b="1" i="1"/>
                      <m:t>𝒌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used in signature generation.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Theory: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Ensures each signature is </a:t>
                </a:r>
                <a:r>
                  <a:rPr lang="en-US" b="1" dirty="0"/>
                  <a:t>unique and unpredictable</a:t>
                </a:r>
                <a:r>
                  <a:rPr lang="en-US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Prevents attackers from: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Reusing signatures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Solving equations to recover private key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If nonce is reused: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Attacker can compute private key → forge signatures -&gt; MITM becomes possible again</a:t>
                </a:r>
              </a:p>
              <a:p>
                <a:pPr marL="171450" indent="-171450" algn="just">
                  <a:buSzPts val="1100"/>
                  <a:buFont typeface="Arial" panose="020B0604020202020204" pitchFamily="34" charset="0"/>
                  <a:buChar char="•"/>
                </a:pPr>
                <a:endParaRPr dirty="0"/>
              </a:p>
            </p:txBody>
          </p:sp>
        </mc:Choice>
        <mc:Fallback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D34F9918-E55B-0E2D-3254-3D0134B74EF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  <a:blipFill>
                <a:blip r:embed="rId3"/>
                <a:stretch>
                  <a:fillRect t="-1479" b="-16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41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C782F484-C1A8-BB1E-894F-A60ED896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63244194-A8E9-CC1B-4985-C383F91B5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9998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Attack Prevention Techniques (2)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E583D7FD-7BC1-F3BF-6154-039EAB421DD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b="1" dirty="0"/>
                  <a:t>SHA-256</a:t>
                </a:r>
                <a:r>
                  <a:rPr lang="en-IN" dirty="0"/>
                  <a:t> maps any input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to a fixed 256-bit value:</a:t>
                </a: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h</m:t>
                      </m:r>
                      <m:r>
                        <a:rPr lang="en-IN"/>
                        <m:t>=</m:t>
                      </m:r>
                      <m:r>
                        <a:rPr lang="en-IN" i="1"/>
                        <m:t>𝐻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𝑚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114300" indent="0" algn="just">
                  <a:buNone/>
                </a:pPr>
                <a:r>
                  <a:rPr lang="en-IN" b="1" dirty="0"/>
                  <a:t>Why we hash before signing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Efficiency: Public-key signatures (like </a:t>
                </a:r>
                <a:r>
                  <a:rPr lang="en-IN" dirty="0" err="1"/>
                  <a:t>ElGamal</a:t>
                </a:r>
                <a:r>
                  <a:rPr lang="en-IN" dirty="0"/>
                  <a:t>) are expensive on large data. Hashing compresses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→ fixed-size </a:t>
                </a:r>
                <a14:m>
                  <m:oMath xmlns:m="http://schemas.openxmlformats.org/officeDocument/2006/math">
                    <m:r>
                      <a:rPr lang="en-IN" i="1"/>
                      <m:t>h</m:t>
                    </m:r>
                  </m:oMath>
                </a14:m>
                <a:r>
                  <a:rPr lang="en-IN" dirty="0"/>
                  <a:t>, so we sign </a:t>
                </a:r>
                <a14:m>
                  <m:oMath xmlns:m="http://schemas.openxmlformats.org/officeDocument/2006/math">
                    <m:r>
                      <a:rPr lang="en-IN" i="1"/>
                      <m:t>h</m:t>
                    </m:r>
                  </m:oMath>
                </a14:m>
                <a:r>
                  <a:rPr lang="en-IN" dirty="0"/>
                  <a:t>instead of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.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Security binding: The signature is effectively on the </a:t>
                </a:r>
                <a:r>
                  <a:rPr lang="en-IN" i="1" dirty="0"/>
                  <a:t>entire message</a:t>
                </a:r>
                <a:r>
                  <a:rPr lang="en-IN" dirty="0"/>
                  <a:t>, because any change in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changes </a:t>
                </a:r>
                <a14:m>
                  <m:oMath xmlns:m="http://schemas.openxmlformats.org/officeDocument/2006/math">
                    <m:r>
                      <a:rPr lang="en-IN" i="1"/>
                      <m:t>h</m:t>
                    </m:r>
                  </m:oMath>
                </a14:m>
                <a:r>
                  <a:rPr lang="en-IN" dirty="0"/>
                  <a:t>. </a:t>
                </a:r>
              </a:p>
              <a:p>
                <a:pPr marL="114300" indent="0" algn="just">
                  <a:buNone/>
                </a:pPr>
                <a:endParaRPr lang="en-IN" dirty="0"/>
              </a:p>
              <a:p>
                <a:pPr marL="114300" indent="0" algn="just">
                  <a:buNone/>
                </a:pPr>
                <a:r>
                  <a:rPr lang="en-IN" b="1" dirty="0"/>
                  <a:t>Core security properties used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Preimage resistance: Given </a:t>
                </a:r>
                <a14:m>
                  <m:oMath xmlns:m="http://schemas.openxmlformats.org/officeDocument/2006/math">
                    <m:r>
                      <a:rPr lang="en-IN" i="1"/>
                      <m:t>h</m:t>
                    </m:r>
                  </m:oMath>
                </a14:m>
                <a:r>
                  <a:rPr lang="en-IN" dirty="0"/>
                  <a:t>, infeasible to find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.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Second-preimage resistance: Given </a:t>
                </a: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</m:oMath>
                </a14:m>
                <a:r>
                  <a:rPr lang="en-IN" dirty="0"/>
                  <a:t>, hard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𝑚</m:t>
                        </m:r>
                      </m:e>
                      <m:sup>
                        <m:r>
                          <a:rPr lang="ar-AE"/>
                          <m:t>′</m:t>
                        </m:r>
                      </m:sup>
                    </m:sSup>
                    <m:r>
                      <a:rPr lang="ar-AE"/>
                      <m:t>≠</m:t>
                    </m:r>
                    <m:r>
                      <a:rPr lang="ar-AE" i="1"/>
                      <m:t>𝑚</m:t>
                    </m:r>
                  </m:oMath>
                </a14:m>
                <a:r>
                  <a:rPr lang="en-IN" dirty="0"/>
                  <a:t>with same hash.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Collision resistance: Hard to find any two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𝑚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,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𝑚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with </a:t>
                </a:r>
                <a14:m>
                  <m:oMath xmlns:m="http://schemas.openxmlformats.org/officeDocument/2006/math">
                    <m:r>
                      <a:rPr lang="en-IN" i="1"/>
                      <m:t>𝐻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𝑚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𝐻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𝑚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 </a:t>
                </a:r>
              </a:p>
              <a:p>
                <a:pPr marL="114300" indent="0" algn="just">
                  <a:buNone/>
                </a:pPr>
                <a:r>
                  <a:rPr lang="en-IN" dirty="0"/>
                  <a:t>These ensure an attacker can’t modify data without invalidating the signature.</a:t>
                </a:r>
              </a:p>
              <a:p>
                <a:pPr marL="114300" indent="0" algn="just">
                  <a:buNone/>
                </a:pPr>
                <a:endParaRPr lang="en-IN" dirty="0"/>
              </a:p>
              <a:p>
                <a:pPr marL="114300" indent="0" algn="just">
                  <a:buNone/>
                </a:pPr>
                <a:r>
                  <a:rPr lang="en-IN" b="1" dirty="0"/>
                  <a:t>In Diffie–Hellman (MITM protection)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Instead of signing raw values, parties sign a hash of all relevant context:</a:t>
                </a: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h</m:t>
                      </m:r>
                      <m:r>
                        <a:rPr lang="en-IN"/>
                        <m:t>=</m:t>
                      </m:r>
                      <m:r>
                        <a:rPr lang="en-IN" i="1"/>
                        <m:t>𝐻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𝑔</m:t>
                              </m:r>
                            </m:e>
                            <m:sup>
                              <m:r>
                                <a:rPr lang="ar-AE" i="1"/>
                                <m:t>𝑎</m:t>
                              </m:r>
                            </m:sup>
                          </m:sSup>
                          <m:r>
                            <a:rPr lang="ar-AE"/>
                            <m:t>∥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𝑔</m:t>
                              </m:r>
                            </m:e>
                            <m:sup>
                              <m:r>
                                <a:rPr lang="ar-AE" i="1"/>
                                <m:t>𝑏</m:t>
                              </m:r>
                            </m:sup>
                          </m:sSup>
                          <m:r>
                            <a:rPr lang="ar-AE"/>
                            <m:t>∥</m:t>
                          </m:r>
                          <m:r>
                            <m:rPr>
                              <m:nor/>
                            </m:rPr>
                            <a:rPr lang="en-IN" i="1"/>
                            <m:t>identities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So, hashing + signing turns unauthenticated DH into an </a:t>
                </a:r>
                <a:r>
                  <a:rPr lang="en-IN" b="1" dirty="0"/>
                  <a:t>authenticated key exchange</a:t>
                </a:r>
                <a:r>
                  <a:rPr lang="en-IN" dirty="0"/>
                  <a:t>, blocking MITM who tries to substitute public values.</a:t>
                </a:r>
              </a:p>
            </p:txBody>
          </p:sp>
        </mc:Choice>
        <mc:Fallback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E583D7FD-7BC1-F3BF-6154-039EAB421DD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  <a:blipFill>
                <a:blip r:embed="rId3"/>
                <a:stretch>
                  <a:fillRect t="-1479" b="-2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51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D52C3F04-760A-E61B-543A-814BAF78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7A369506-9ECB-4AB3-3666-54CF7178B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59998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Attack Prevention Techniques (3)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BB4DFF62-696E-2337-68AA-16344CE3CB5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HMAC</a:t>
                </a:r>
                <a:r>
                  <a:rPr lang="en-IN" dirty="0"/>
                  <a:t> uses a shared secret </a:t>
                </a:r>
                <a14:m>
                  <m:oMath xmlns:m="http://schemas.openxmlformats.org/officeDocument/2006/math">
                    <m:r>
                      <a:rPr lang="en-IN" i="1"/>
                      <m:t>𝐾</m:t>
                    </m:r>
                  </m:oMath>
                </a14:m>
                <a:r>
                  <a:rPr lang="en-IN" dirty="0"/>
                  <a:t>(derived from Diffie–Hellman) to compute a tag: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/>
                        <m:t>HMAC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𝐾</m:t>
                          </m:r>
                        </m:e>
                        <m:e>
                          <m:r>
                            <a:rPr lang="ar-AE" i="1"/>
                            <m:t>𝑚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114300" indent="0">
                  <a:buNone/>
                </a:pPr>
                <a:r>
                  <a:rPr lang="en-IN" b="1" dirty="0"/>
                  <a:t>Why HMAC after DH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Diffie–Hellman gives a </a:t>
                </a:r>
                <a:r>
                  <a:rPr lang="en-IN" b="1" dirty="0"/>
                  <a:t>shared secret</a:t>
                </a:r>
                <a:r>
                  <a:rPr lang="en-IN" dirty="0"/>
                  <a:t> but no message authentication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HMAC uses that secret to prove both parties know </a:t>
                </a:r>
                <a14:m>
                  <m:oMath xmlns:m="http://schemas.openxmlformats.org/officeDocument/2006/math">
                    <m:r>
                      <a:rPr lang="en-IN" i="1"/>
                      <m:t>𝐾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So every message is authenticated, not just the key exchange </a:t>
                </a:r>
              </a:p>
              <a:p>
                <a:pPr marL="114300" indent="0">
                  <a:buNone/>
                </a:pPr>
                <a:endParaRPr lang="en-IN" dirty="0"/>
              </a:p>
              <a:p>
                <a:pPr marL="114300" indent="0">
                  <a:buNone/>
                </a:pPr>
                <a:r>
                  <a:rPr lang="en-IN" b="1" dirty="0"/>
                  <a:t>Internal idea (why it’s secure)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HMAC is not just a plain hash with a key. It uses </a:t>
                </a:r>
                <a:r>
                  <a:rPr lang="en-IN" b="1" dirty="0"/>
                  <a:t>two layers</a:t>
                </a:r>
                <a:r>
                  <a:rPr lang="en-IN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𝐻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𝐾</m:t>
                              </m:r>
                              <m:r>
                                <a:rPr lang="ar-AE"/>
                                <m:t>⊕</m:t>
                              </m:r>
                              <m:r>
                                <a:rPr lang="ar-AE" i="1"/>
                                <m:t>𝑜𝑝𝑎𝑑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/>
                            <m:t>∥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/>
                            <m:t>𝐻</m:t>
                          </m:r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i="1"/>
                                    <m:t>𝐾</m:t>
                                  </m:r>
                                  <m:r>
                                    <a:rPr lang="ar-AE"/>
                                    <m:t>⊕</m:t>
                                  </m:r>
                                  <m:r>
                                    <a:rPr lang="ar-AE" i="1"/>
                                    <m:t>𝑖𝑝𝑎𝑑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i="1"/>
                                <m:t> </m:t>
                              </m:r>
                              <m:r>
                                <a:rPr lang="ar-AE"/>
                                <m:t>∥</m:t>
                              </m:r>
                              <m:r>
                                <m:rPr>
                                  <m:nor/>
                                </m:rPr>
                                <a:rPr lang="ar-AE" i="1"/>
                                <m:t> </m:t>
                              </m:r>
                              <m:r>
                                <a:rPr lang="ar-AE" i="1"/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Inner hash binds key + message and Outer hash prevents structural attacks on the hash function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This design protects against length-extension and related attacks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114300" indent="0">
                  <a:buNone/>
                </a:pPr>
                <a:r>
                  <a:rPr lang="en-IN" b="1" dirty="0"/>
                  <a:t>In Diffie–Hellman (MITM protection after key exchange)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After both sides compute shared key </a:t>
                </a:r>
                <a14:m>
                  <m:oMath xmlns:m="http://schemas.openxmlformats.org/officeDocument/2006/math">
                    <m:r>
                      <a:rPr lang="en-IN" i="1"/>
                      <m:t>𝐾</m:t>
                    </m:r>
                  </m:oMath>
                </a14:m>
                <a:r>
                  <a:rPr lang="en-IN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Each message is sent as: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/>
                          </m:ctrlPr>
                        </m:dPr>
                        <m:e>
                          <m:r>
                            <a:rPr lang="ar-AE" i="1"/>
                            <m:t>𝑚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IN" i="1"/>
                            <m:t>HMAC</m:t>
                          </m:r>
                          <m:d>
                            <m:dPr>
                              <m:sepChr m:val=","/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𝐾</m:t>
                              </m:r>
                            </m:e>
                            <m:e>
                              <m:r>
                                <a:rPr lang="ar-AE" i="1"/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Receiver recomputes HMAC and verifies </a:t>
                </a:r>
              </a:p>
              <a:p>
                <a:pPr marL="114300" indent="0">
                  <a:buNone/>
                </a:pPr>
                <a:r>
                  <a:rPr lang="en-IN" dirty="0"/>
                  <a:t>Even if MITM was possible during </a:t>
                </a:r>
                <a:r>
                  <a:rPr lang="en-IN" i="1" dirty="0"/>
                  <a:t>unauthenticated DH</a:t>
                </a:r>
                <a:r>
                  <a:rPr lang="en-IN" dirty="0"/>
                  <a:t>, once a secure authenticated key is established, HMAC ensures </a:t>
                </a:r>
                <a:r>
                  <a:rPr lang="en-IN" b="1" dirty="0"/>
                  <a:t>all further communication is protected</a:t>
                </a:r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495" name="Google Shape;495;p61">
                <a:extLst>
                  <a:ext uri="{FF2B5EF4-FFF2-40B4-BE49-F238E27FC236}">
                    <a16:creationId xmlns:a16="http://schemas.microsoft.com/office/drawing/2014/main" id="{BB4DFF62-696E-2337-68AA-16344CE3CB5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13224" y="1109373"/>
                <a:ext cx="7717500" cy="3295800"/>
              </a:xfrm>
              <a:prstGeom prst="rect">
                <a:avLst/>
              </a:prstGeom>
              <a:blipFill>
                <a:blip r:embed="rId3"/>
                <a:stretch>
                  <a:fillRect t="-1479" b="-96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03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0807C342-CF3F-10BE-AF60-035EE880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57FF2CA1-59C2-173A-4428-AAA9C64AD9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9142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F259F-275B-9005-E784-9D8BBDFE51CA}"/>
                  </a:ext>
                </a:extLst>
              </p:cNvPr>
              <p:cNvSpPr txBox="1"/>
              <p:nvPr/>
            </p:nvSpPr>
            <p:spPr>
              <a:xfrm>
                <a:off x="713224" y="1017725"/>
                <a:ext cx="7337502" cy="603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1100" b="1" dirty="0"/>
                  <a:t>Reuse-k (nonce reuse)</a:t>
                </a:r>
                <a:r>
                  <a:rPr lang="en-IN" sz="1100" dirty="0"/>
                  <a:t> means using the same random value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100" dirty="0"/>
                  <a:t>in multiple </a:t>
                </a:r>
                <a:r>
                  <a:rPr lang="en-IN" sz="1100" dirty="0" err="1"/>
                  <a:t>ElGamal</a:t>
                </a:r>
                <a:r>
                  <a:rPr lang="en-IN" sz="1100" dirty="0"/>
                  <a:t> operations; since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1100" dirty="0"/>
                  <a:t> appears in both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sz="1100" i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sz="1100" i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IN" sz="1100" b="0" i="1">
                        <a:latin typeface="Cambria Math" panose="02040503050406030204" pitchFamily="18" charset="0"/>
                      </a:rPr>
                      <m:t>  </m:t>
                    </m:r>
                    <m:r>
                      <a:rPr lang="en-IN" sz="1100" b="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100" dirty="0"/>
                  <a:t> and </a:t>
                </a:r>
                <a14:m>
                  <m:oMath xmlns:m="http://schemas.openxmlformats.org/officeDocument/2006/math">
                    <m:r>
                      <a:rPr lang="en-IN" sz="11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11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ar-AE" sz="11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1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1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100" i="1">
                            <a:latin typeface="Cambria Math" panose="02040503050406030204" pitchFamily="18" charset="0"/>
                          </a:rPr>
                          <m:t>𝑥𝑟</m:t>
                        </m:r>
                      </m:e>
                    </m:d>
                  </m:oMath>
                </a14:m>
                <a:r>
                  <a:rPr lang="ar-AE" sz="1100" dirty="0"/>
                  <a:t> </a:t>
                </a:r>
                <a:r>
                  <a:rPr lang="en-US" sz="1100" dirty="0"/>
                  <a:t> </a:t>
                </a:r>
                <a:r>
                  <a:rPr lang="en-IN" sz="1100" dirty="0"/>
                  <a:t>reusing it makes the equations for different messages share the same unknown, linking them algebraically.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F259F-275B-9005-E784-9D8BBDFE5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24" y="1017725"/>
                <a:ext cx="7337502" cy="603178"/>
              </a:xfrm>
              <a:prstGeom prst="rect">
                <a:avLst/>
              </a:prstGeom>
              <a:blipFill>
                <a:blip r:embed="rId3"/>
                <a:stretch>
                  <a:fillRect t="-1010" b="-6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A314940-9945-B317-3ADB-81D83A2C1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326" y="1936842"/>
            <a:ext cx="3447649" cy="1940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4C6234-83AD-4C71-449E-9EBA23BA1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673" y="1936842"/>
            <a:ext cx="3449001" cy="19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3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"/>
          <p:cNvSpPr txBox="1">
            <a:spLocks noGrp="1"/>
          </p:cNvSpPr>
          <p:nvPr>
            <p:ph type="title"/>
          </p:nvPr>
        </p:nvSpPr>
        <p:spPr>
          <a:xfrm>
            <a:off x="1294153" y="1926150"/>
            <a:ext cx="6555694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1547</Words>
  <Application>Microsoft Office PowerPoint</Application>
  <PresentationFormat>On-screen Show (16:9)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Montserrat</vt:lpstr>
      <vt:lpstr>Vidaloka</vt:lpstr>
      <vt:lpstr>Cambria Math</vt:lpstr>
      <vt:lpstr>Lato</vt:lpstr>
      <vt:lpstr>Minimalist Business Slides XL by Slidesgo</vt:lpstr>
      <vt:lpstr>BCSE309L : Cryptography &amp; Network Security  Project Review</vt:lpstr>
      <vt:lpstr>Problem Statement</vt:lpstr>
      <vt:lpstr>Literature Review </vt:lpstr>
      <vt:lpstr>Literature Review </vt:lpstr>
      <vt:lpstr>Mathematical Background</vt:lpstr>
      <vt:lpstr>System &amp; Attack Model</vt:lpstr>
      <vt:lpstr>MITM Attack Results</vt:lpstr>
      <vt:lpstr>Attack Prevention Techniques (1)</vt:lpstr>
      <vt:lpstr>Attack Prevention Techniques (2)</vt:lpstr>
      <vt:lpstr>Attack Prevention Techniques (3)</vt:lpstr>
      <vt:lpstr>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Nikhil</dc:creator>
  <cp:lastModifiedBy>Nikhil Parkar</cp:lastModifiedBy>
  <cp:revision>41</cp:revision>
  <dcterms:modified xsi:type="dcterms:W3CDTF">2026-03-30T19:10:02Z</dcterms:modified>
</cp:coreProperties>
</file>